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Cormorant Garamond Bold Italics" charset="1" panose="00000800000000000000"/>
      <p:regular r:id="rId26"/>
    </p:embeddedFont>
    <p:embeddedFont>
      <p:font typeface="Quicksand" charset="1" panose="00000000000000000000"/>
      <p:regular r:id="rId27"/>
    </p:embeddedFont>
    <p:embeddedFont>
      <p:font typeface="Quicksand Bold" charset="1" panose="000000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notesSlides/notesSlide2.xml" Type="http://schemas.openxmlformats.org/officeDocument/2006/relationships/notesSlide"/><Relationship Id="rId3" Target="viewProps.xml" Type="http://schemas.openxmlformats.org/officeDocument/2006/relationships/view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theme/theme1.xml" Type="http://schemas.openxmlformats.org/officeDocument/2006/relationships/theme"/><Relationship Id="rId40" Target="notesSlides/notesSlide13.xml" Type="http://schemas.openxmlformats.org/officeDocument/2006/relationships/notesSlide"/><Relationship Id="rId41" Target="notesSlides/notesSlide14.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Evening, everyone. Thank you for joining us today. My name is Manisha Manchana, and I’m here with my team members Rahul, Karunakar, Slesha and Dinesh. Together, we are excited to present our project, Portfolio Prediction Model. This project focuses on leveraging machine learning techniques to forecast stock prices and provide actionable insights for portfolio management.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 me start by giving you an overview of the project.</a:t>
            </a:r>
          </a:p>
          <a:p>
            <a:r>
              <a:rPr lang="en-US"/>
              <a:t/>
            </a:r>
          </a:p>
          <a:p>
            <a:r>
              <a:rPr lang="en-US"/>
              <a:t>The primary objective of this project is to forecast stock prices and analyze portfolio performance using advanced machine learning techniques.”</a:t>
            </a:r>
          </a:p>
          <a:p>
            <a:r>
              <a:rPr lang="en-US"/>
              <a:t>“Our work involves three key components:</a:t>
            </a:r>
          </a:p>
          <a:p>
            <a:r>
              <a:rPr lang="en-US"/>
              <a:t>    1.    Data Preprocessing and Feature Engineering to prepare clean and meaningful data for analysis.</a:t>
            </a:r>
          </a:p>
          <a:p>
            <a:r>
              <a:rPr lang="en-US"/>
              <a:t>    2.    Model Training and Evaluation to build predictive models that accurately capture market trends.</a:t>
            </a:r>
          </a:p>
          <a:p>
            <a:r>
              <a:rPr lang="en-US"/>
              <a:t>    3.    Profit and Loss Analysis to assess the financial performance of the portfolio.”</a:t>
            </a:r>
          </a:p>
          <a:p>
            <a:r>
              <a:rPr lang="en-US"/>
              <a:t>    •    “Overall, the system is designed to assist portfolio managers in making informed decisions.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set the stage, let me explain the foundation of this project.</a:t>
            </a:r>
          </a:p>
          <a:p>
            <a:r>
              <a:rPr lang="en-US"/>
              <a:t/>
            </a:r>
          </a:p>
          <a:p>
            <a:r>
              <a:rPr lang="en-US"/>
              <a:t>“Stock price prediction plays a critical role in volatile markets, where even small deviations can have significant financial impacts.”</a:t>
            </a:r>
          </a:p>
          <a:p>
            <a:r>
              <a:rPr lang="en-US"/>
              <a:t/>
            </a:r>
          </a:p>
          <a:p>
            <a:r>
              <a:rPr lang="en-US"/>
              <a:t>For example recent case of ADANI groups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•We used a combination of techniques to address this challenge:</a:t>
            </a:r>
          </a:p>
          <a:p>
            <a:r>
              <a:rPr lang="en-US"/>
              <a:t>    1.    we used Data Mining Techniques to extract and preprocess financial data.</a:t>
            </a:r>
          </a:p>
          <a:p>
            <a:r>
              <a:rPr lang="en-US"/>
              <a:t>    2.    Performed Sequential Modeling using LSTM, a deep learning approach that captures temporal dependencies in time-series data.</a:t>
            </a:r>
          </a:p>
          <a:p>
            <a:r>
              <a:rPr lang="en-US"/>
              <a:t>    3.    Also Profit/Loss Metrics to measure and analyze portfolio performance.</a:t>
            </a:r>
          </a:p>
          <a:p>
            <a:r>
              <a:rPr lang="en-US"/>
              <a:t>    •For this project, our portfolio includes three major stocks: Apple (50%), Tesla (30%), and Google (20%). These weights reflect their influence and market significance.”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Next, let me discuss how we collected and prepared the data.</a:t>
            </a:r>
          </a:p>
          <a:p>
            <a:r>
              <a:rPr lang="en-US"/>
              <a:t/>
            </a:r>
          </a:p>
          <a:p>
            <a:r>
              <a:rPr lang="en-US"/>
              <a:t>“We used the yfinance library to extract 10 years of historical stock data, including features like Open, High, Low, Close prices, Volume, Dividends, and Stock Splits.”</a:t>
            </a:r>
          </a:p>
          <a:p>
            <a:r>
              <a:rPr lang="en-US"/>
              <a:t>    •    “After collecting the data, we applied several preprocessing steps:</a:t>
            </a:r>
          </a:p>
          <a:p>
            <a:r>
              <a:rPr lang="en-US"/>
              <a:t>    1.    Handling Missing Data by using forward fill to ensure continuity.</a:t>
            </a:r>
          </a:p>
          <a:p>
            <a:r>
              <a:rPr lang="en-US"/>
              <a:t>    2.    Removed Outliers to eliminate noise and extreme values.</a:t>
            </a:r>
          </a:p>
          <a:p>
            <a:r>
              <a:rPr lang="en-US"/>
              <a:t>    3.    Dropped Irrelevant Columns, such as Dividends and Volume, which were not directly relevant to our predictions.”</a:t>
            </a:r>
          </a:p>
          <a:p>
            <a:r>
              <a:rPr lang="en-US"/>
              <a:t>    •    “This ensures that the data is clean and ready for meaningful analysis.”</a:t>
            </a:r>
          </a:p>
          <a:p>
            <a:r>
              <a:rPr lang="en-US"/>
              <a:t/>
            </a:r>
          </a:p>
          <a:p>
            <a:r>
              <a:rPr lang="en-US"/>
              <a:t>Now that we’ve covered the data and models, let us move on to discussing the feature selections and prediction models over to you dinesh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had used heatmap for feature selection because it shows the correlation between features in the data set</a:t>
            </a:r>
          </a:p>
          <a:p>
            <a:r>
              <a:rPr lang="en-US"/>
              <a:t/>
            </a:r>
          </a:p>
          <a:p>
            <a:r>
              <a:rPr lang="en-US"/>
              <a:t>why not other methods ?</a:t>
            </a:r>
          </a:p>
          <a:p>
            <a:r>
              <a:rPr lang="en-US"/>
              <a:t>advanced methods like Recursive Feature Elimination (RFE) can be used but the heatmap is particularly useful for understanding relationships in time-series data and for exploratory analysis.</a:t>
            </a:r>
          </a:p>
          <a:p>
            <a:r>
              <a:rPr lang="en-US"/>
              <a:t/>
            </a:r>
          </a:p>
          <a:p>
            <a:r>
              <a:rPr lang="en-US"/>
              <a:t>we are focusing on close price because  its the key point to check daily performance.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had used heatmap for feature selection because it shows the correlation between features in the data set</a:t>
            </a:r>
          </a:p>
          <a:p>
            <a:r>
              <a:rPr lang="en-US"/>
              <a:t/>
            </a:r>
          </a:p>
          <a:p>
            <a:r>
              <a:rPr lang="en-US"/>
              <a:t>why not other methods ?</a:t>
            </a:r>
          </a:p>
          <a:p>
            <a:r>
              <a:rPr lang="en-US"/>
              <a:t>advanced methods like Recursive Feature Elimination (RFE) can be used but the heatmap is particularly useful for understanding relationships in time-series data and for exploratory analysis.</a:t>
            </a:r>
          </a:p>
          <a:p>
            <a:r>
              <a:rPr lang="en-US"/>
              <a:t/>
            </a:r>
          </a:p>
          <a:p>
            <a:r>
              <a:rPr lang="en-US"/>
              <a:t>we are focusing on close price because  its the key point to check daily performance.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To know the accuracy of models </a:t>
            </a:r>
          </a:p>
          <a:p>
            <a:r>
              <a:rPr lang="en-US"/>
              <a:t>we had used some performance metrics</a:t>
            </a:r>
          </a:p>
          <a:p>
            <a:r>
              <a:rPr lang="en-US"/>
              <a:t/>
            </a:r>
          </a:p>
          <a:p>
            <a:r>
              <a:rPr lang="en-US"/>
              <a:t>Mean Absolute Error (MAE):</a:t>
            </a:r>
          </a:p>
          <a:p>
            <a:r>
              <a:rPr lang="en-US"/>
              <a:t>MAE measures the average absolute difference between predicted and actual values. Lower MAE means fewer large errors.</a:t>
            </a:r>
          </a:p>
          <a:p>
            <a:r>
              <a:rPr lang="en-US"/>
              <a:t/>
            </a:r>
          </a:p>
          <a:p>
            <a:r>
              <a:rPr lang="en-US"/>
              <a:t>Mean Squared Error (MSE):</a:t>
            </a:r>
          </a:p>
          <a:p>
            <a:r>
              <a:rPr lang="en-US"/>
              <a:t>"MSE emphasizes larger errors by squaring the differences</a:t>
            </a:r>
          </a:p>
          <a:p>
            <a:r>
              <a:rPr lang="en-US"/>
              <a:t/>
            </a:r>
          </a:p>
          <a:p>
            <a:r>
              <a:rPr lang="en-US"/>
              <a:t>RMSE is the square root of MSE, keeping the units consistent with the original data</a:t>
            </a:r>
          </a:p>
          <a:p>
            <a:r>
              <a:rPr lang="en-US"/>
              <a:t/>
            </a:r>
          </a:p>
          <a:p>
            <a:r>
              <a:rPr lang="en-US"/>
              <a:t/>
            </a:r>
          </a:p>
          <a:p>
            <a:r>
              <a:rPr lang="en-US"/>
              <a:t>We are using Mean Absolute Error (MAE) as the loss function, as it yielded the lowest loss value during model evaluation and is more robust to outliers due to the volatility of the stock market.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this slide we are going to talk about camparison between the models</a:t>
            </a:r>
          </a:p>
          <a:p>
            <a:r>
              <a:rPr lang="en-US"/>
              <a:t/>
            </a:r>
          </a:p>
          <a:p>
            <a:r>
              <a:rPr lang="en-US"/>
              <a:t>1. random forest</a:t>
            </a:r>
          </a:p>
          <a:p>
            <a:r>
              <a:rPr lang="en-US"/>
              <a:t>2. LSTM</a:t>
            </a:r>
          </a:p>
          <a:p>
            <a:r>
              <a:rPr lang="en-US"/>
              <a:t/>
            </a:r>
          </a:p>
          <a:p>
            <a:r>
              <a:rPr lang="en-US"/>
              <a:t>Random forest is a decision based model that is good at handling complex relationships, outliers etc. </a:t>
            </a:r>
          </a:p>
          <a:p>
            <a:r>
              <a:rPr lang="en-US"/>
              <a:t/>
            </a:r>
          </a:p>
          <a:p>
            <a:r>
              <a:rPr lang="en-US"/>
              <a:t>whereas LSTM is model that is used to handle sequential data where the past data effect the future results. </a:t>
            </a:r>
          </a:p>
          <a:p>
            <a:r>
              <a:rPr lang="en-US"/>
              <a:t/>
            </a:r>
          </a:p>
          <a:p>
            <a:r>
              <a:rPr lang="en-US"/>
              <a:t>For the comparison, key metrics are use:</a:t>
            </a:r>
          </a:p>
          <a:p>
            <a:r>
              <a:rPr lang="en-US"/>
              <a:t/>
            </a:r>
          </a:p>
          <a:p>
            <a:r>
              <a:rPr lang="en-US"/>
              <a:t>MAE </a:t>
            </a:r>
          </a:p>
          <a:p>
            <a:r>
              <a:rPr lang="en-US"/>
              <a:t>lower the MAE, the more accurate </a:t>
            </a:r>
          </a:p>
          <a:p>
            <a:r>
              <a:rPr lang="en-US"/>
              <a:t>MSE</a:t>
            </a:r>
          </a:p>
          <a:p>
            <a:r>
              <a:rPr lang="en-US"/>
              <a:t>smaller MSE means better performace</a:t>
            </a:r>
          </a:p>
          <a:p>
            <a:r>
              <a:rPr lang="en-US"/>
              <a:t>RSME</a:t>
            </a:r>
          </a:p>
          <a:p>
            <a:r>
              <a:rPr lang="en-US"/>
              <a:t>smaller means better accuracy</a:t>
            </a:r>
          </a:p>
          <a:p>
            <a:r>
              <a:rPr lang="en-US"/>
              <a:t/>
            </a:r>
          </a:p>
          <a:p>
            <a:r>
              <a:rPr lang="en-US"/>
              <a:t/>
            </a:r>
          </a:p>
          <a:p>
            <a:r>
              <a:rPr lang="en-US"/>
              <a:t>Random foresr will build many decision trees and averages the output to make predictions, It will handle non linear data that have unexpected jumps or fluctuations. </a:t>
            </a:r>
          </a:p>
          <a:p>
            <a:r>
              <a:rPr lang="en-US"/>
              <a:t>this model does not consider past data and make future predictions </a:t>
            </a:r>
          </a:p>
          <a:p>
            <a:r>
              <a:rPr lang="en-US"/>
              <a:t/>
            </a:r>
          </a:p>
          <a:p>
            <a:r>
              <a:rPr lang="en-US"/>
              <a:t>Whereas LSTM handles time series data by remembering important data and forgetting ireevant data. </a:t>
            </a:r>
          </a:p>
          <a:p>
            <a:r>
              <a:rPr lang="en-US"/>
              <a:t/>
            </a:r>
          </a:p>
          <a:p>
            <a:r>
              <a:rPr lang="en-US"/>
              <a:t>We will compare both the results and tell which one gives more accurate results.</a:t>
            </a:r>
          </a:p>
          <a:p>
            <a:r>
              <a:rPr lang="en-US"/>
              <a:t/>
            </a:r>
          </a:p>
          <a:p>
            <a:r>
              <a:rPr lang="en-US"/>
              <a:t>talk abt comparison table</a:t>
            </a:r>
          </a:p>
          <a:p>
            <a:r>
              <a:rPr lang="en-US"/>
              <a:t/>
            </a:r>
          </a:p>
          <a:p>
            <a:r>
              <a:rPr lang="en-US"/>
              <a:t>the line LSTM closely follow the actual shock price line. </a:t>
            </a:r>
          </a:p>
          <a:p>
            <a:r>
              <a:rPr lang="en-US"/>
              <a:t/>
            </a:r>
          </a:p>
          <a:p>
            <a:r>
              <a:rPr lang="en-US"/>
              <a:t>random forest deviates </a:t>
            </a:r>
          </a:p>
          <a:p>
            <a:r>
              <a:rPr lang="en-US"/>
              <a:t/>
            </a:r>
          </a:p>
          <a:p>
            <a:r>
              <a:rPr lang="en-US"/>
              <a:t>LSTM performs better than random forect in predicting stock price as it has lower MAE, MSE and RMSE.</a:t>
            </a:r>
          </a:p>
          <a:p>
            <a:r>
              <a:rPr lang="en-US"/>
              <a:t/>
            </a:r>
          </a:p>
          <a:p>
            <a:r>
              <a:rPr lang="en-US"/>
              <a:t>These graphs like heatmaps, line graphs help easily compare model preformace.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our project, we built a portfolio prediction system, which is a fully automated framework designed to simplify stock forecasting and portfolio analysis. </a:t>
            </a:r>
          </a:p>
          <a:p>
            <a:r>
              <a:rPr lang="en-US"/>
              <a:t/>
            </a:r>
          </a:p>
          <a:p>
            <a:r>
              <a:rPr lang="en-US"/>
              <a:t>It integrates several custom components to ensure end-to-end efficiency in financial forecasting workflows.</a:t>
            </a:r>
          </a:p>
          <a:p>
            <a:r>
              <a:rPr lang="en-US"/>
              <a:t/>
            </a:r>
          </a:p>
          <a:p>
            <a:r>
              <a:rPr lang="en-US"/>
              <a:t>The system is built on three core components:</a:t>
            </a:r>
          </a:p>
          <a:p>
            <a:r>
              <a:rPr lang="en-US"/>
              <a:t/>
            </a:r>
          </a:p>
          <a:p>
            <a:r>
              <a:rPr lang="en-US"/>
              <a:t>1.	The StockPredictionModel, which constructs and trains LSTM models to handle sequential stock data effectively.</a:t>
            </a:r>
          </a:p>
          <a:p>
            <a:r>
              <a:rPr lang="en-US"/>
              <a:t>2.	The Stock Class, responsible for retrieving stock data, preprocessing it, and creating the features required for predictions.</a:t>
            </a:r>
          </a:p>
          <a:p>
            <a:r>
              <a:rPr lang="en-US"/>
              <a:t>3.	The PortfolioPredictor, which manages predictions for multiple stocks, calculates profit or loss, and visualizes performance trends.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improve the system further, we have identified several key areas for enhancement:</a:t>
            </a:r>
          </a:p>
          <a:p>
            <a:r>
              <a:rPr lang="en-US"/>
              <a:t/>
            </a:r>
          </a:p>
          <a:p>
            <a:r>
              <a:rPr lang="en-US"/>
              <a:t>1.	Advanced Models:</a:t>
            </a:r>
          </a:p>
          <a:p>
            <a:r>
              <a:rPr lang="en-US"/>
              <a:t>We plan to explore Transformer models, which excel at capturing long-range dependencies in data, and hybrid approaches that combine LSTM with attention mechanisms for greater adaptability to market fluctuations.</a:t>
            </a:r>
          </a:p>
          <a:p>
            <a:r>
              <a:rPr lang="en-US"/>
              <a:t>2.	Interactive Dashboard:</a:t>
            </a:r>
          </a:p>
          <a:p>
            <a:r>
              <a:rPr lang="en-US"/>
              <a:t>Our goal is to build a real-time dashboard for tracking portfolio performance dynamically. This would include features for adding or removing stocks based on predicted trends and current market conditions.</a:t>
            </a:r>
          </a:p>
          <a:p>
            <a:r>
              <a:rPr lang="en-US"/>
              <a:t>3.	Handling Volatility:</a:t>
            </a:r>
          </a:p>
          <a:p>
            <a:r>
              <a:rPr lang="en-US"/>
              <a:t>We aim to strengthen the system’s resilience to market anomalies by incorporating ensemble methods or probabilistic models.</a:t>
            </a:r>
          </a:p>
          <a:p>
            <a:r>
              <a:rPr lang="en-US"/>
              <a:t>4.	Scalability:</a:t>
            </a:r>
          </a:p>
          <a:p>
            <a:r>
              <a:rPr lang="en-US"/>
              <a:t>Finally, we want to expand the system to handle larger, more diverse portfolios across multiple sectors.”</a:t>
            </a:r>
          </a:p>
          <a:p>
            <a:r>
              <a:rPr lang="en-US"/>
              <a:t/>
            </a:r>
          </a:p>
          <a:p>
            <a:r>
              <a:rPr lang="en-US"/>
              <a:t>Closing Statement</a:t>
            </a:r>
          </a:p>
          <a:p>
            <a:r>
              <a:rPr lang="en-US"/>
              <a:t/>
            </a:r>
          </a:p>
          <a:p>
            <a:r>
              <a:rPr lang="en-US"/>
              <a:t>“In summary, our Portfolio Prediction System is a powerful tool for managing portfolios and predicting stock trends. With planned enhancements like advanced models, an interactive dashboard, and improved scalability, we aim to make it even more accurate, robust, and user-friendly.”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In our project, we tested two main types of models: Random Forest Regressor and Long Short-Term Memory (LSTM) networks. </a:t>
            </a:r>
          </a:p>
          <a:p>
            <a:r>
              <a:rPr lang="en-US"/>
              <a:t/>
            </a:r>
          </a:p>
          <a:p>
            <a:r>
              <a:rPr lang="en-US"/>
              <a:t>Each model has its strengths and weaknesses in predicting stock prices. We analyzed how well they could predict stock prices.</a:t>
            </a:r>
          </a:p>
          <a:p>
            <a:r>
              <a:rPr lang="en-US"/>
              <a:t/>
            </a:r>
          </a:p>
          <a:p>
            <a:r>
              <a:rPr lang="en-US"/>
              <a:t>2. When making our predictions, We considered the stock market's ups and downs (volatility). This is important because stock prices can change a lot in a short period.</a:t>
            </a:r>
          </a:p>
          <a:p>
            <a:r>
              <a:rPr lang="en-US"/>
              <a:t/>
            </a:r>
          </a:p>
          <a:p>
            <a:r>
              <a:rPr lang="en-US"/>
              <a:t>3. We also explored using a combination of different models, known as ensemble approaches. This method can sometimes provide more accurate predictions than using just one model.</a:t>
            </a:r>
          </a:p>
          <a:p>
            <a:r>
              <a:rPr lang="en-US"/>
              <a:t/>
            </a:r>
          </a:p>
          <a:p>
            <a:r>
              <a:rPr lang="en-US"/>
              <a:t>Closing Notes:</a:t>
            </a:r>
          </a:p>
          <a:p>
            <a:r>
              <a:rPr lang="en-US"/>
              <a:t/>
            </a:r>
          </a:p>
          <a:p>
            <a:r>
              <a:rPr lang="en-US"/>
              <a:t>1. In our project, we placed a strong emphasis on data preprocessing and feature selection. </a:t>
            </a:r>
          </a:p>
          <a:p>
            <a:r>
              <a:rPr lang="en-US"/>
              <a:t/>
            </a:r>
          </a:p>
          <a:p>
            <a:r>
              <a:rPr lang="en-US"/>
              <a:t>By handling missing data, removing outliers, and focusing on relevant features, we ensured that our models received high-quality input data. </a:t>
            </a:r>
          </a:p>
          <a:p>
            <a:r>
              <a:rPr lang="en-US"/>
              <a:t/>
            </a:r>
          </a:p>
          <a:p>
            <a:r>
              <a:rPr lang="en-US"/>
              <a:t>This step is crucial as it directly impacts the accuracy and reliability of the predictions.</a:t>
            </a:r>
          </a:p>
          <a:p>
            <a:r>
              <a:rPr lang="en-US"/>
              <a:t/>
            </a:r>
          </a:p>
          <a:p>
            <a:r>
              <a:rPr lang="en-US"/>
              <a:t>2. We utilized two different models: Long Short-Term Memory (LSTM) networks and Random Forest Regressors.</a:t>
            </a:r>
          </a:p>
          <a:p>
            <a:r>
              <a:rPr lang="en-US"/>
              <a:t/>
            </a:r>
          </a:p>
          <a:p>
            <a:r>
              <a:rPr lang="en-US"/>
              <a:t>LSTM networks excel at capturing temporal patterns in stock price movements, making them highly effective for our sequential data.</a:t>
            </a:r>
          </a:p>
          <a:p>
            <a:r>
              <a:rPr lang="en-US"/>
              <a:t/>
            </a:r>
          </a:p>
          <a:p>
            <a:r>
              <a:rPr lang="en-US"/>
              <a:t>However, they can be computationally intensive. </a:t>
            </a:r>
          </a:p>
          <a:p>
            <a:r>
              <a:rPr lang="en-US"/>
              <a:t/>
            </a:r>
          </a:p>
          <a:p>
            <a:r>
              <a:rPr lang="en-US"/>
              <a:t>On the other hand, Random Forest Regressors are robust to noise and outliers but fall short in capturing sequential dependencies, which is a limitation for time-series forecasting.</a:t>
            </a:r>
          </a:p>
          <a:p>
            <a:r>
              <a:rPr lang="en-US"/>
              <a:t/>
            </a:r>
          </a:p>
          <a:p>
            <a:r>
              <a:rPr lang="en-US"/>
              <a:t>3. Looking ahead, we plan to explore advanced models like Transformers and hybrid approaches to further improve our prediction accuracy. </a:t>
            </a:r>
          </a:p>
          <a:p>
            <a:r>
              <a:rPr lang="en-US"/>
              <a:t/>
            </a:r>
          </a:p>
          <a:p>
            <a:r>
              <a:rPr lang="en-US"/>
              <a:t>Additionally, developing an interactive dashboard for real-time portfolio tracking will enable portfolio managers to make more informed decisions. </a:t>
            </a:r>
          </a:p>
          <a:p>
            <a:r>
              <a:rPr lang="en-US"/>
              <a:t/>
            </a:r>
          </a:p>
          <a:p>
            <a:r>
              <a:rPr lang="en-US"/>
              <a:t>These enhancements have the potential to significantly impact financial forecasting by providing more accurate and actionable insights.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Closing Notes:</a:t>
            </a:r>
          </a:p>
          <a:p>
            <a:r>
              <a:rPr lang="en-US"/>
              <a:t/>
            </a:r>
          </a:p>
          <a:p>
            <a:r>
              <a:rPr lang="en-US"/>
              <a:t>1. In our project, we placed a strong emphasis on data preprocessing and feature selection. </a:t>
            </a:r>
          </a:p>
          <a:p>
            <a:r>
              <a:rPr lang="en-US"/>
              <a:t/>
            </a:r>
          </a:p>
          <a:p>
            <a:r>
              <a:rPr lang="en-US"/>
              <a:t>By handling missing data, removing outliers, and focusing on relevant features, we ensured that our models received high-quality input data. </a:t>
            </a:r>
          </a:p>
          <a:p>
            <a:r>
              <a:rPr lang="en-US"/>
              <a:t/>
            </a:r>
          </a:p>
          <a:p>
            <a:r>
              <a:rPr lang="en-US"/>
              <a:t>This step is crucial as it directly impacts the accuracy and reliability of the predictions.</a:t>
            </a:r>
          </a:p>
          <a:p>
            <a:r>
              <a:rPr lang="en-US"/>
              <a:t/>
            </a:r>
          </a:p>
          <a:p>
            <a:r>
              <a:rPr lang="en-US"/>
              <a:t>2. We utilized two different models: Long Short-Term Memory (LSTM) networks and Random Forest Regressors.</a:t>
            </a:r>
          </a:p>
          <a:p>
            <a:r>
              <a:rPr lang="en-US"/>
              <a:t/>
            </a:r>
          </a:p>
          <a:p>
            <a:r>
              <a:rPr lang="en-US"/>
              <a:t>LSTM networks excel at capturing temporal patterns in stock price movements, making them highly effective for our sequential data.</a:t>
            </a:r>
          </a:p>
          <a:p>
            <a:r>
              <a:rPr lang="en-US"/>
              <a:t/>
            </a:r>
          </a:p>
          <a:p>
            <a:r>
              <a:rPr lang="en-US"/>
              <a:t>However, they can be computationally intensive. </a:t>
            </a:r>
          </a:p>
          <a:p>
            <a:r>
              <a:rPr lang="en-US"/>
              <a:t/>
            </a:r>
          </a:p>
          <a:p>
            <a:r>
              <a:rPr lang="en-US"/>
              <a:t>On the other hand, Random Forest Regressors are robust to noise and outliers but fall short in capturing sequential dependencies, which is a limitation for time-series forecasting.</a:t>
            </a:r>
          </a:p>
          <a:p>
            <a:r>
              <a:rPr lang="en-US"/>
              <a:t/>
            </a:r>
          </a:p>
          <a:p>
            <a:r>
              <a:rPr lang="en-US"/>
              <a:t>3. Looking ahead, we plan to explore advanced models like Transformers and hybrid approaches to further improve our prediction accuracy. </a:t>
            </a:r>
          </a:p>
          <a:p>
            <a:r>
              <a:rPr lang="en-US"/>
              <a:t/>
            </a:r>
          </a:p>
          <a:p>
            <a:r>
              <a:rPr lang="en-US"/>
              <a:t>Additionally, developing an interactive dashboard for real-time portfolio tracking will enable portfolio managers to make more informed decisions. </a:t>
            </a:r>
          </a:p>
          <a:p>
            <a:r>
              <a:rPr lang="en-US"/>
              <a:t/>
            </a:r>
          </a:p>
          <a:p>
            <a:r>
              <a:rPr lang="en-US"/>
              <a:t>These enhancements have the potential to significantly impact financial forecasting by providing more accurate and actionable insights.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jpe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2.png" Type="http://schemas.openxmlformats.org/officeDocument/2006/relationships/image"/><Relationship Id="rId4"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4.png" Type="http://schemas.openxmlformats.org/officeDocument/2006/relationships/image"/><Relationship Id="rId4"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2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43764" y="2611692"/>
            <a:ext cx="16229942" cy="2048395"/>
          </a:xfrm>
          <a:prstGeom prst="rect">
            <a:avLst/>
          </a:prstGeom>
        </p:spPr>
        <p:txBody>
          <a:bodyPr anchor="t" rtlCol="false" tIns="0" lIns="0" bIns="0" rIns="0">
            <a:spAutoFit/>
          </a:bodyPr>
          <a:lstStyle/>
          <a:p>
            <a:pPr algn="ctr" marL="0" indent="0" lvl="0">
              <a:lnSpc>
                <a:spcPts val="16771"/>
              </a:lnSpc>
              <a:spcBef>
                <a:spcPct val="0"/>
              </a:spcBef>
            </a:pPr>
            <a:r>
              <a:rPr lang="en-US" b="true" sz="11979" i="true">
                <a:solidFill>
                  <a:srgbClr val="0F4662"/>
                </a:solidFill>
                <a:latin typeface="Cormorant Garamond Bold Italics"/>
                <a:ea typeface="Cormorant Garamond Bold Italics"/>
                <a:cs typeface="Cormorant Garamond Bold Italics"/>
                <a:sym typeface="Cormorant Garamond Bold Italics"/>
              </a:rPr>
              <a:t>Portfolio Prediction Model</a:t>
            </a:r>
          </a:p>
        </p:txBody>
      </p:sp>
      <p:sp>
        <p:nvSpPr>
          <p:cNvPr name="AutoShape 3" id="3"/>
          <p:cNvSpPr/>
          <p:nvPr/>
        </p:nvSpPr>
        <p:spPr>
          <a:xfrm>
            <a:off x="9158735" y="990600"/>
            <a:ext cx="8114971" cy="0"/>
          </a:xfrm>
          <a:prstGeom prst="line">
            <a:avLst/>
          </a:prstGeom>
          <a:ln cap="flat" w="76200">
            <a:solidFill>
              <a:srgbClr val="0F4662"/>
            </a:solidFill>
            <a:prstDash val="solid"/>
            <a:headEnd type="none" len="sm" w="sm"/>
            <a:tailEnd type="none" len="sm" w="sm"/>
          </a:ln>
        </p:spPr>
      </p:sp>
      <p:sp>
        <p:nvSpPr>
          <p:cNvPr name="AutoShape 4" id="4"/>
          <p:cNvSpPr/>
          <p:nvPr/>
        </p:nvSpPr>
        <p:spPr>
          <a:xfrm>
            <a:off x="1043764" y="9296400"/>
            <a:ext cx="8114971" cy="0"/>
          </a:xfrm>
          <a:prstGeom prst="line">
            <a:avLst/>
          </a:prstGeom>
          <a:ln cap="flat" w="76200">
            <a:solidFill>
              <a:srgbClr val="0F4662"/>
            </a:solidFill>
            <a:prstDash val="solid"/>
            <a:headEnd type="none" len="sm" w="sm"/>
            <a:tailEnd type="none" len="sm" w="sm"/>
          </a:ln>
        </p:spPr>
      </p:sp>
      <p:sp>
        <p:nvSpPr>
          <p:cNvPr name="Freeform 5" id="5"/>
          <p:cNvSpPr/>
          <p:nvPr/>
        </p:nvSpPr>
        <p:spPr>
          <a:xfrm flipH="false" flipV="false" rot="0">
            <a:off x="9618706" y="9037492"/>
            <a:ext cx="2968854" cy="441617"/>
          </a:xfrm>
          <a:custGeom>
            <a:avLst/>
            <a:gdLst/>
            <a:ahLst/>
            <a:cxnLst/>
            <a:rect r="r" b="b" t="t" l="l"/>
            <a:pathLst>
              <a:path h="441617" w="2968854">
                <a:moveTo>
                  <a:pt x="0" y="0"/>
                </a:moveTo>
                <a:lnTo>
                  <a:pt x="2968854" y="0"/>
                </a:lnTo>
                <a:lnTo>
                  <a:pt x="2968854" y="441616"/>
                </a:lnTo>
                <a:lnTo>
                  <a:pt x="0" y="4416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2737539" y="5946575"/>
            <a:ext cx="12812922" cy="603885"/>
          </a:xfrm>
          <a:prstGeom prst="rect">
            <a:avLst/>
          </a:prstGeom>
        </p:spPr>
        <p:txBody>
          <a:bodyPr anchor="t" rtlCol="false" tIns="0" lIns="0" bIns="0" rIns="0">
            <a:spAutoFit/>
          </a:bodyPr>
          <a:lstStyle/>
          <a:p>
            <a:pPr algn="ctr" marL="0" indent="0" lvl="0">
              <a:lnSpc>
                <a:spcPts val="5040"/>
              </a:lnSpc>
              <a:spcBef>
                <a:spcPct val="0"/>
              </a:spcBef>
            </a:pPr>
            <a:r>
              <a:rPr lang="en-US" sz="3600">
                <a:solidFill>
                  <a:srgbClr val="0F4662"/>
                </a:solidFill>
                <a:latin typeface="Quicksand"/>
                <a:ea typeface="Quicksand"/>
                <a:cs typeface="Quicksand"/>
                <a:sym typeface="Quicksand"/>
              </a:rPr>
              <a:t>Leveraging Machine Learning for Financial Forecasting</a:t>
            </a:r>
          </a:p>
        </p:txBody>
      </p:sp>
      <p:sp>
        <p:nvSpPr>
          <p:cNvPr name="TextBox 7" id="7"/>
          <p:cNvSpPr txBox="true"/>
          <p:nvPr/>
        </p:nvSpPr>
        <p:spPr>
          <a:xfrm rot="0">
            <a:off x="5649752" y="7032069"/>
            <a:ext cx="6988496" cy="525912"/>
          </a:xfrm>
          <a:prstGeom prst="rect">
            <a:avLst/>
          </a:prstGeom>
        </p:spPr>
        <p:txBody>
          <a:bodyPr anchor="t" rtlCol="false" tIns="0" lIns="0" bIns="0" rIns="0">
            <a:spAutoFit/>
          </a:bodyPr>
          <a:lstStyle/>
          <a:p>
            <a:pPr algn="ctr" marL="0" indent="0" lvl="0">
              <a:lnSpc>
                <a:spcPts val="4397"/>
              </a:lnSpc>
              <a:spcBef>
                <a:spcPct val="0"/>
              </a:spcBef>
            </a:pPr>
            <a:r>
              <a:rPr lang="en-US" sz="3141">
                <a:solidFill>
                  <a:srgbClr val="0F4662"/>
                </a:solidFill>
                <a:latin typeface="Quicksand"/>
                <a:ea typeface="Quicksand"/>
                <a:cs typeface="Quicksand"/>
                <a:sym typeface="Quicksand"/>
              </a:rPr>
              <a:t>05 December, 2024</a:t>
            </a:r>
          </a:p>
        </p:txBody>
      </p:sp>
      <p:sp>
        <p:nvSpPr>
          <p:cNvPr name="TextBox 8" id="8"/>
          <p:cNvSpPr txBox="true"/>
          <p:nvPr/>
        </p:nvSpPr>
        <p:spPr>
          <a:xfrm rot="0">
            <a:off x="3322179" y="1967581"/>
            <a:ext cx="11643643" cy="529811"/>
          </a:xfrm>
          <a:prstGeom prst="rect">
            <a:avLst/>
          </a:prstGeom>
        </p:spPr>
        <p:txBody>
          <a:bodyPr anchor="t" rtlCol="false" tIns="0" lIns="0" bIns="0" rIns="0">
            <a:spAutoFit/>
          </a:bodyPr>
          <a:lstStyle/>
          <a:p>
            <a:pPr algn="ctr" marL="0" indent="0" lvl="0">
              <a:lnSpc>
                <a:spcPts val="4397"/>
              </a:lnSpc>
              <a:spcBef>
                <a:spcPct val="0"/>
              </a:spcBef>
            </a:pPr>
            <a:r>
              <a:rPr lang="en-US" sz="3141">
                <a:solidFill>
                  <a:srgbClr val="0F4662"/>
                </a:solidFill>
                <a:latin typeface="Quicksand"/>
                <a:ea typeface="Quicksand"/>
                <a:cs typeface="Quicksand"/>
                <a:sym typeface="Quicksand"/>
              </a:rPr>
              <a:t>Prepared by group 1</a:t>
            </a:r>
          </a:p>
        </p:txBody>
      </p:sp>
      <p:sp>
        <p:nvSpPr>
          <p:cNvPr name="Freeform 9" id="9"/>
          <p:cNvSpPr/>
          <p:nvPr/>
        </p:nvSpPr>
        <p:spPr>
          <a:xfrm flipH="false" flipV="false" rot="0">
            <a:off x="5646742" y="807892"/>
            <a:ext cx="2968854" cy="441617"/>
          </a:xfrm>
          <a:custGeom>
            <a:avLst/>
            <a:gdLst/>
            <a:ahLst/>
            <a:cxnLst/>
            <a:rect r="r" b="b" t="t" l="l"/>
            <a:pathLst>
              <a:path h="441617" w="2968854">
                <a:moveTo>
                  <a:pt x="0" y="0"/>
                </a:moveTo>
                <a:lnTo>
                  <a:pt x="2968854" y="0"/>
                </a:lnTo>
                <a:lnTo>
                  <a:pt x="2968854" y="441616"/>
                </a:lnTo>
                <a:lnTo>
                  <a:pt x="0" y="4416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4099486"/>
            <a:chOff x="0" y="0"/>
            <a:chExt cx="4816593" cy="1079700"/>
          </a:xfrm>
        </p:grpSpPr>
        <p:sp>
          <p:nvSpPr>
            <p:cNvPr name="Freeform 3" id="3"/>
            <p:cNvSpPr/>
            <p:nvPr/>
          </p:nvSpPr>
          <p:spPr>
            <a:xfrm flipH="false" flipV="false" rot="0">
              <a:off x="0" y="0"/>
              <a:ext cx="4816592" cy="1079700"/>
            </a:xfrm>
            <a:custGeom>
              <a:avLst/>
              <a:gdLst/>
              <a:ahLst/>
              <a:cxnLst/>
              <a:rect r="r" b="b" t="t" l="l"/>
              <a:pathLst>
                <a:path h="1079700" w="4816592">
                  <a:moveTo>
                    <a:pt x="0" y="0"/>
                  </a:moveTo>
                  <a:lnTo>
                    <a:pt x="4816592" y="0"/>
                  </a:lnTo>
                  <a:lnTo>
                    <a:pt x="4816592" y="1079700"/>
                  </a:lnTo>
                  <a:lnTo>
                    <a:pt x="0" y="1079700"/>
                  </a:lnTo>
                  <a:close/>
                </a:path>
              </a:pathLst>
            </a:custGeom>
            <a:solidFill>
              <a:srgbClr val="DBE5EA"/>
            </a:solidFill>
          </p:spPr>
        </p:sp>
        <p:sp>
          <p:nvSpPr>
            <p:cNvPr name="TextBox 4" id="4"/>
            <p:cNvSpPr txBox="true"/>
            <p:nvPr/>
          </p:nvSpPr>
          <p:spPr>
            <a:xfrm>
              <a:off x="0" y="-47625"/>
              <a:ext cx="4816593" cy="1127325"/>
            </a:xfrm>
            <a:prstGeom prst="rect">
              <a:avLst/>
            </a:prstGeom>
          </p:spPr>
          <p:txBody>
            <a:bodyPr anchor="ctr" rtlCol="false" tIns="50800" lIns="50800" bIns="50800" rIns="50800"/>
            <a:lstStyle/>
            <a:p>
              <a:pPr algn="ctr">
                <a:lnSpc>
                  <a:spcPts val="3693"/>
                </a:lnSpc>
              </a:pPr>
            </a:p>
          </p:txBody>
        </p:sp>
      </p:grpSp>
      <p:sp>
        <p:nvSpPr>
          <p:cNvPr name="TextBox 5" id="5"/>
          <p:cNvSpPr txBox="true"/>
          <p:nvPr/>
        </p:nvSpPr>
        <p:spPr>
          <a:xfrm rot="0">
            <a:off x="1028700" y="599709"/>
            <a:ext cx="9914964"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Team Members</a:t>
            </a:r>
          </a:p>
        </p:txBody>
      </p:sp>
      <p:sp>
        <p:nvSpPr>
          <p:cNvPr name="TextBox 6" id="6"/>
          <p:cNvSpPr txBox="true"/>
          <p:nvPr/>
        </p:nvSpPr>
        <p:spPr>
          <a:xfrm rot="0">
            <a:off x="6635340" y="2889205"/>
            <a:ext cx="5017320" cy="570378"/>
          </a:xfrm>
          <a:prstGeom prst="rect">
            <a:avLst/>
          </a:prstGeom>
        </p:spPr>
        <p:txBody>
          <a:bodyPr anchor="t" rtlCol="false" tIns="0" lIns="0" bIns="0" rIns="0">
            <a:spAutoFit/>
          </a:bodyPr>
          <a:lstStyle/>
          <a:p>
            <a:pPr algn="ctr" marL="0" indent="0" lvl="0">
              <a:lnSpc>
                <a:spcPts val="4786"/>
              </a:lnSpc>
              <a:spcBef>
                <a:spcPct val="0"/>
              </a:spcBef>
            </a:pPr>
            <a:r>
              <a:rPr lang="en-US" b="true" sz="3419">
                <a:solidFill>
                  <a:srgbClr val="0F4662"/>
                </a:solidFill>
                <a:latin typeface="Quicksand Bold"/>
                <a:ea typeface="Quicksand Bold"/>
                <a:cs typeface="Quicksand Bold"/>
                <a:sym typeface="Quicksand Bold"/>
              </a:rPr>
              <a:t>Manisha Manchana</a:t>
            </a:r>
          </a:p>
        </p:txBody>
      </p:sp>
      <p:sp>
        <p:nvSpPr>
          <p:cNvPr name="TextBox 7" id="7"/>
          <p:cNvSpPr txBox="true"/>
          <p:nvPr/>
        </p:nvSpPr>
        <p:spPr>
          <a:xfrm rot="0">
            <a:off x="6635340" y="3507208"/>
            <a:ext cx="5017320" cy="570378"/>
          </a:xfrm>
          <a:prstGeom prst="rect">
            <a:avLst/>
          </a:prstGeom>
        </p:spPr>
        <p:txBody>
          <a:bodyPr anchor="t" rtlCol="false" tIns="0" lIns="0" bIns="0" rIns="0">
            <a:spAutoFit/>
          </a:bodyPr>
          <a:lstStyle/>
          <a:p>
            <a:pPr algn="ctr" marL="0" indent="0" lvl="0">
              <a:lnSpc>
                <a:spcPts val="4786"/>
              </a:lnSpc>
              <a:spcBef>
                <a:spcPct val="0"/>
              </a:spcBef>
            </a:pPr>
            <a:r>
              <a:rPr lang="en-US" sz="3419">
                <a:solidFill>
                  <a:srgbClr val="0F4662"/>
                </a:solidFill>
                <a:latin typeface="Quicksand"/>
                <a:ea typeface="Quicksand"/>
                <a:cs typeface="Quicksand"/>
                <a:sym typeface="Quicksand"/>
              </a:rPr>
              <a:t>Member</a:t>
            </a:r>
          </a:p>
        </p:txBody>
      </p:sp>
      <p:sp>
        <p:nvSpPr>
          <p:cNvPr name="TextBox 8" id="8"/>
          <p:cNvSpPr txBox="true"/>
          <p:nvPr/>
        </p:nvSpPr>
        <p:spPr>
          <a:xfrm rot="0">
            <a:off x="12241980" y="2889205"/>
            <a:ext cx="5017320" cy="570378"/>
          </a:xfrm>
          <a:prstGeom prst="rect">
            <a:avLst/>
          </a:prstGeom>
        </p:spPr>
        <p:txBody>
          <a:bodyPr anchor="t" rtlCol="false" tIns="0" lIns="0" bIns="0" rIns="0">
            <a:spAutoFit/>
          </a:bodyPr>
          <a:lstStyle/>
          <a:p>
            <a:pPr algn="ctr" marL="0" indent="0" lvl="0">
              <a:lnSpc>
                <a:spcPts val="4786"/>
              </a:lnSpc>
              <a:spcBef>
                <a:spcPct val="0"/>
              </a:spcBef>
            </a:pPr>
            <a:r>
              <a:rPr lang="en-US" b="true" sz="3419">
                <a:solidFill>
                  <a:srgbClr val="0F4662"/>
                </a:solidFill>
                <a:latin typeface="Quicksand Bold"/>
                <a:ea typeface="Quicksand Bold"/>
                <a:cs typeface="Quicksand Bold"/>
                <a:sym typeface="Quicksand Bold"/>
              </a:rPr>
              <a:t>Karunakar Nuvvula</a:t>
            </a:r>
          </a:p>
        </p:txBody>
      </p:sp>
      <p:sp>
        <p:nvSpPr>
          <p:cNvPr name="TextBox 9" id="9"/>
          <p:cNvSpPr txBox="true"/>
          <p:nvPr/>
        </p:nvSpPr>
        <p:spPr>
          <a:xfrm rot="0">
            <a:off x="12241980" y="3529108"/>
            <a:ext cx="5017320" cy="570378"/>
          </a:xfrm>
          <a:prstGeom prst="rect">
            <a:avLst/>
          </a:prstGeom>
        </p:spPr>
        <p:txBody>
          <a:bodyPr anchor="t" rtlCol="false" tIns="0" lIns="0" bIns="0" rIns="0">
            <a:spAutoFit/>
          </a:bodyPr>
          <a:lstStyle/>
          <a:p>
            <a:pPr algn="ctr" marL="0" indent="0" lvl="0">
              <a:lnSpc>
                <a:spcPts val="4786"/>
              </a:lnSpc>
              <a:spcBef>
                <a:spcPct val="0"/>
              </a:spcBef>
            </a:pPr>
            <a:r>
              <a:rPr lang="en-US" sz="3419">
                <a:solidFill>
                  <a:srgbClr val="0F4662"/>
                </a:solidFill>
                <a:latin typeface="Quicksand"/>
                <a:ea typeface="Quicksand"/>
                <a:cs typeface="Quicksand"/>
                <a:sym typeface="Quicksand"/>
              </a:rPr>
              <a:t>Member</a:t>
            </a:r>
          </a:p>
        </p:txBody>
      </p:sp>
      <p:sp>
        <p:nvSpPr>
          <p:cNvPr name="TextBox 10" id="10"/>
          <p:cNvSpPr txBox="true"/>
          <p:nvPr/>
        </p:nvSpPr>
        <p:spPr>
          <a:xfrm rot="0">
            <a:off x="1028700" y="2889205"/>
            <a:ext cx="5017320" cy="570378"/>
          </a:xfrm>
          <a:prstGeom prst="rect">
            <a:avLst/>
          </a:prstGeom>
        </p:spPr>
        <p:txBody>
          <a:bodyPr anchor="t" rtlCol="false" tIns="0" lIns="0" bIns="0" rIns="0">
            <a:spAutoFit/>
          </a:bodyPr>
          <a:lstStyle/>
          <a:p>
            <a:pPr algn="ctr" marL="0" indent="0" lvl="0">
              <a:lnSpc>
                <a:spcPts val="4786"/>
              </a:lnSpc>
              <a:spcBef>
                <a:spcPct val="0"/>
              </a:spcBef>
            </a:pPr>
            <a:r>
              <a:rPr lang="en-US" b="true" sz="3419">
                <a:solidFill>
                  <a:srgbClr val="0F4662"/>
                </a:solidFill>
                <a:latin typeface="Quicksand Bold"/>
                <a:ea typeface="Quicksand Bold"/>
                <a:cs typeface="Quicksand Bold"/>
                <a:sym typeface="Quicksand Bold"/>
              </a:rPr>
              <a:t>Rahul Saini</a:t>
            </a:r>
          </a:p>
        </p:txBody>
      </p:sp>
      <p:sp>
        <p:nvSpPr>
          <p:cNvPr name="TextBox 11" id="11"/>
          <p:cNvSpPr txBox="true"/>
          <p:nvPr/>
        </p:nvSpPr>
        <p:spPr>
          <a:xfrm rot="0">
            <a:off x="1028700" y="3529108"/>
            <a:ext cx="5017320" cy="570378"/>
          </a:xfrm>
          <a:prstGeom prst="rect">
            <a:avLst/>
          </a:prstGeom>
        </p:spPr>
        <p:txBody>
          <a:bodyPr anchor="t" rtlCol="false" tIns="0" lIns="0" bIns="0" rIns="0">
            <a:spAutoFit/>
          </a:bodyPr>
          <a:lstStyle/>
          <a:p>
            <a:pPr algn="ctr" marL="0" indent="0" lvl="0">
              <a:lnSpc>
                <a:spcPts val="4786"/>
              </a:lnSpc>
              <a:spcBef>
                <a:spcPct val="0"/>
              </a:spcBef>
            </a:pPr>
            <a:r>
              <a:rPr lang="en-US" sz="3419">
                <a:solidFill>
                  <a:srgbClr val="0F4662"/>
                </a:solidFill>
                <a:latin typeface="Quicksand"/>
                <a:ea typeface="Quicksand"/>
                <a:cs typeface="Quicksand"/>
                <a:sym typeface="Quicksand"/>
              </a:rPr>
              <a:t>Member</a:t>
            </a:r>
          </a:p>
        </p:txBody>
      </p:sp>
      <p:sp>
        <p:nvSpPr>
          <p:cNvPr name="AutoShape 12" id="12"/>
          <p:cNvSpPr/>
          <p:nvPr/>
        </p:nvSpPr>
        <p:spPr>
          <a:xfrm>
            <a:off x="5897880" y="8681205"/>
            <a:ext cx="6492240" cy="0"/>
          </a:xfrm>
          <a:prstGeom prst="line">
            <a:avLst/>
          </a:prstGeom>
          <a:ln cap="flat" w="76200">
            <a:solidFill>
              <a:srgbClr val="0F4662"/>
            </a:solidFill>
            <a:prstDash val="solid"/>
            <a:headEnd type="none" len="sm" w="sm"/>
            <a:tailEnd type="none" len="sm" w="sm"/>
          </a:ln>
        </p:spPr>
      </p:sp>
      <p:sp>
        <p:nvSpPr>
          <p:cNvPr name="Freeform 13" id="13"/>
          <p:cNvSpPr/>
          <p:nvPr/>
        </p:nvSpPr>
        <p:spPr>
          <a:xfrm flipH="false" flipV="false" rot="0">
            <a:off x="8304001" y="9529723"/>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3389220" y="5086350"/>
            <a:ext cx="5017320" cy="570378"/>
          </a:xfrm>
          <a:prstGeom prst="rect">
            <a:avLst/>
          </a:prstGeom>
        </p:spPr>
        <p:txBody>
          <a:bodyPr anchor="t" rtlCol="false" tIns="0" lIns="0" bIns="0" rIns="0">
            <a:spAutoFit/>
          </a:bodyPr>
          <a:lstStyle/>
          <a:p>
            <a:pPr algn="ctr" marL="0" indent="0" lvl="0">
              <a:lnSpc>
                <a:spcPts val="4786"/>
              </a:lnSpc>
              <a:spcBef>
                <a:spcPct val="0"/>
              </a:spcBef>
            </a:pPr>
            <a:r>
              <a:rPr lang="en-US" b="true" sz="3419">
                <a:solidFill>
                  <a:srgbClr val="0F4662"/>
                </a:solidFill>
                <a:latin typeface="Quicksand Bold"/>
                <a:ea typeface="Quicksand Bold"/>
                <a:cs typeface="Quicksand Bold"/>
                <a:sym typeface="Quicksand Bold"/>
              </a:rPr>
              <a:t>Slesha Bucchireddy</a:t>
            </a:r>
          </a:p>
        </p:txBody>
      </p:sp>
      <p:sp>
        <p:nvSpPr>
          <p:cNvPr name="TextBox 15" id="15"/>
          <p:cNvSpPr txBox="true"/>
          <p:nvPr/>
        </p:nvSpPr>
        <p:spPr>
          <a:xfrm rot="0">
            <a:off x="3389220" y="5723403"/>
            <a:ext cx="5017320" cy="570378"/>
          </a:xfrm>
          <a:prstGeom prst="rect">
            <a:avLst/>
          </a:prstGeom>
        </p:spPr>
        <p:txBody>
          <a:bodyPr anchor="t" rtlCol="false" tIns="0" lIns="0" bIns="0" rIns="0">
            <a:spAutoFit/>
          </a:bodyPr>
          <a:lstStyle/>
          <a:p>
            <a:pPr algn="ctr" marL="0" indent="0" lvl="0">
              <a:lnSpc>
                <a:spcPts val="4786"/>
              </a:lnSpc>
              <a:spcBef>
                <a:spcPct val="0"/>
              </a:spcBef>
            </a:pPr>
            <a:r>
              <a:rPr lang="en-US" sz="3419">
                <a:solidFill>
                  <a:srgbClr val="0F4662"/>
                </a:solidFill>
                <a:latin typeface="Quicksand"/>
                <a:ea typeface="Quicksand"/>
                <a:cs typeface="Quicksand"/>
                <a:sym typeface="Quicksand"/>
              </a:rPr>
              <a:t>Member</a:t>
            </a:r>
          </a:p>
        </p:txBody>
      </p:sp>
      <p:sp>
        <p:nvSpPr>
          <p:cNvPr name="TextBox 16" id="16"/>
          <p:cNvSpPr txBox="true"/>
          <p:nvPr/>
        </p:nvSpPr>
        <p:spPr>
          <a:xfrm rot="0">
            <a:off x="9881460" y="5086350"/>
            <a:ext cx="5017320" cy="570378"/>
          </a:xfrm>
          <a:prstGeom prst="rect">
            <a:avLst/>
          </a:prstGeom>
        </p:spPr>
        <p:txBody>
          <a:bodyPr anchor="t" rtlCol="false" tIns="0" lIns="0" bIns="0" rIns="0">
            <a:spAutoFit/>
          </a:bodyPr>
          <a:lstStyle/>
          <a:p>
            <a:pPr algn="ctr" marL="0" indent="0" lvl="0">
              <a:lnSpc>
                <a:spcPts val="4786"/>
              </a:lnSpc>
              <a:spcBef>
                <a:spcPct val="0"/>
              </a:spcBef>
            </a:pPr>
            <a:r>
              <a:rPr lang="en-US" b="true" sz="3419">
                <a:solidFill>
                  <a:srgbClr val="0F4662"/>
                </a:solidFill>
                <a:latin typeface="Quicksand Bold"/>
                <a:ea typeface="Quicksand Bold"/>
                <a:cs typeface="Quicksand Bold"/>
                <a:sym typeface="Quicksand Bold"/>
              </a:rPr>
              <a:t>Dinesh Kumar Barla</a:t>
            </a:r>
          </a:p>
        </p:txBody>
      </p:sp>
      <p:sp>
        <p:nvSpPr>
          <p:cNvPr name="TextBox 17" id="17"/>
          <p:cNvSpPr txBox="true"/>
          <p:nvPr/>
        </p:nvSpPr>
        <p:spPr>
          <a:xfrm rot="0">
            <a:off x="9881460" y="5723403"/>
            <a:ext cx="5017320" cy="570378"/>
          </a:xfrm>
          <a:prstGeom prst="rect">
            <a:avLst/>
          </a:prstGeom>
        </p:spPr>
        <p:txBody>
          <a:bodyPr anchor="t" rtlCol="false" tIns="0" lIns="0" bIns="0" rIns="0">
            <a:spAutoFit/>
          </a:bodyPr>
          <a:lstStyle/>
          <a:p>
            <a:pPr algn="ctr" marL="0" indent="0" lvl="0">
              <a:lnSpc>
                <a:spcPts val="4786"/>
              </a:lnSpc>
              <a:spcBef>
                <a:spcPct val="0"/>
              </a:spcBef>
            </a:pPr>
            <a:r>
              <a:rPr lang="en-US" sz="3419">
                <a:solidFill>
                  <a:srgbClr val="0F4662"/>
                </a:solidFill>
                <a:latin typeface="Quicksand"/>
                <a:ea typeface="Quicksand"/>
                <a:cs typeface="Quicksand"/>
                <a:sym typeface="Quicksand"/>
              </a:rPr>
              <a:t>Member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4093893" y="15849"/>
            <a:ext cx="4194107" cy="10271151"/>
            <a:chOff x="0" y="0"/>
            <a:chExt cx="1104621" cy="2705159"/>
          </a:xfrm>
        </p:grpSpPr>
        <p:sp>
          <p:nvSpPr>
            <p:cNvPr name="Freeform 3" id="3"/>
            <p:cNvSpPr/>
            <p:nvPr/>
          </p:nvSpPr>
          <p:spPr>
            <a:xfrm flipH="false" flipV="false" rot="0">
              <a:off x="0" y="0"/>
              <a:ext cx="1104621" cy="2705159"/>
            </a:xfrm>
            <a:custGeom>
              <a:avLst/>
              <a:gdLst/>
              <a:ahLst/>
              <a:cxnLst/>
              <a:rect r="r" b="b" t="t" l="l"/>
              <a:pathLst>
                <a:path h="2705159" w="1104621">
                  <a:moveTo>
                    <a:pt x="0" y="0"/>
                  </a:moveTo>
                  <a:lnTo>
                    <a:pt x="1104621" y="0"/>
                  </a:lnTo>
                  <a:lnTo>
                    <a:pt x="1104621" y="2705159"/>
                  </a:lnTo>
                  <a:lnTo>
                    <a:pt x="0" y="2705159"/>
                  </a:lnTo>
                  <a:close/>
                </a:path>
              </a:pathLst>
            </a:custGeom>
            <a:solidFill>
              <a:srgbClr val="7994A0"/>
            </a:solidFill>
          </p:spPr>
        </p:sp>
        <p:sp>
          <p:nvSpPr>
            <p:cNvPr name="TextBox 4" id="4"/>
            <p:cNvSpPr txBox="true"/>
            <p:nvPr/>
          </p:nvSpPr>
          <p:spPr>
            <a:xfrm>
              <a:off x="0" y="-47625"/>
              <a:ext cx="1104621" cy="2752784"/>
            </a:xfrm>
            <a:prstGeom prst="rect">
              <a:avLst/>
            </a:prstGeom>
          </p:spPr>
          <p:txBody>
            <a:bodyPr anchor="ctr" rtlCol="false" tIns="50800" lIns="50800" bIns="50800" rIns="50800"/>
            <a:lstStyle/>
            <a:p>
              <a:pPr algn="ctr">
                <a:lnSpc>
                  <a:spcPts val="3693"/>
                </a:lnSpc>
              </a:pPr>
            </a:p>
          </p:txBody>
        </p:sp>
      </p:grpSp>
      <p:grpSp>
        <p:nvGrpSpPr>
          <p:cNvPr name="Group 5" id="5"/>
          <p:cNvGrpSpPr/>
          <p:nvPr/>
        </p:nvGrpSpPr>
        <p:grpSpPr>
          <a:xfrm rot="0">
            <a:off x="6872925" y="1684924"/>
            <a:ext cx="10720541" cy="7573376"/>
            <a:chOff x="0" y="0"/>
            <a:chExt cx="14294055" cy="10097834"/>
          </a:xfrm>
        </p:grpSpPr>
        <p:pic>
          <p:nvPicPr>
            <p:cNvPr name="Picture 6" id="6"/>
            <p:cNvPicPr>
              <a:picLocks noChangeAspect="true"/>
            </p:cNvPicPr>
            <p:nvPr/>
          </p:nvPicPr>
          <p:blipFill>
            <a:blip r:embed="rId3"/>
            <a:srcRect l="10235" t="0" r="10235" b="0"/>
            <a:stretch>
              <a:fillRect/>
            </a:stretch>
          </p:blipFill>
          <p:spPr>
            <a:xfrm flipH="false" flipV="false">
              <a:off x="0" y="0"/>
              <a:ext cx="14294055" cy="10097834"/>
            </a:xfrm>
            <a:prstGeom prst="rect">
              <a:avLst/>
            </a:prstGeom>
          </p:spPr>
        </p:pic>
      </p:grpSp>
      <p:sp>
        <p:nvSpPr>
          <p:cNvPr name="Freeform 7" id="7"/>
          <p:cNvSpPr/>
          <p:nvPr/>
        </p:nvSpPr>
        <p:spPr>
          <a:xfrm flipH="false" flipV="false" rot="0">
            <a:off x="1028700" y="8974931"/>
            <a:ext cx="1905000" cy="283369"/>
          </a:xfrm>
          <a:custGeom>
            <a:avLst/>
            <a:gdLst/>
            <a:ahLst/>
            <a:cxnLst/>
            <a:rect r="r" b="b" t="t" l="l"/>
            <a:pathLst>
              <a:path h="283369" w="1905000">
                <a:moveTo>
                  <a:pt x="0" y="0"/>
                </a:moveTo>
                <a:lnTo>
                  <a:pt x="1905000" y="0"/>
                </a:lnTo>
                <a:lnTo>
                  <a:pt x="1905000" y="283369"/>
                </a:lnTo>
                <a:lnTo>
                  <a:pt x="0" y="2833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8700" y="599709"/>
            <a:ext cx="93902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Project Overview</a:t>
            </a:r>
          </a:p>
        </p:txBody>
      </p:sp>
      <p:sp>
        <p:nvSpPr>
          <p:cNvPr name="TextBox 9" id="9"/>
          <p:cNvSpPr txBox="true"/>
          <p:nvPr/>
        </p:nvSpPr>
        <p:spPr>
          <a:xfrm rot="0">
            <a:off x="1028700" y="3564712"/>
            <a:ext cx="5722917" cy="1514475"/>
          </a:xfrm>
          <a:prstGeom prst="rect">
            <a:avLst/>
          </a:prstGeom>
        </p:spPr>
        <p:txBody>
          <a:bodyPr anchor="t" rtlCol="false" tIns="0" lIns="0" bIns="0" rIns="0">
            <a:spAutoFit/>
          </a:bodyPr>
          <a:lstStyle/>
          <a:p>
            <a:pPr algn="l" marL="0" indent="0" lvl="0">
              <a:lnSpc>
                <a:spcPts val="4079"/>
              </a:lnSpc>
            </a:pPr>
            <a:r>
              <a:rPr lang="en-US" sz="2400">
                <a:solidFill>
                  <a:srgbClr val="0F4662"/>
                </a:solidFill>
                <a:latin typeface="Quicksand"/>
                <a:ea typeface="Quicksand"/>
                <a:cs typeface="Quicksand"/>
                <a:sym typeface="Quicksand"/>
              </a:rPr>
              <a:t>Forecast stock prices and analyze portfolio performance using machine learning</a:t>
            </a:r>
          </a:p>
        </p:txBody>
      </p:sp>
      <p:sp>
        <p:nvSpPr>
          <p:cNvPr name="TextBox 10" id="10"/>
          <p:cNvSpPr txBox="true"/>
          <p:nvPr/>
        </p:nvSpPr>
        <p:spPr>
          <a:xfrm rot="0">
            <a:off x="1028700" y="2823184"/>
            <a:ext cx="693806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Objective:</a:t>
            </a:r>
          </a:p>
        </p:txBody>
      </p:sp>
      <p:sp>
        <p:nvSpPr>
          <p:cNvPr name="TextBox 11" id="11"/>
          <p:cNvSpPr txBox="true"/>
          <p:nvPr/>
        </p:nvSpPr>
        <p:spPr>
          <a:xfrm rot="0">
            <a:off x="1028700" y="5815330"/>
            <a:ext cx="5722917" cy="25431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Data preprocessing and feature engineering.</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Model training and evaluation.</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Profit/loss analysis for portfolio management.</a:t>
            </a:r>
          </a:p>
        </p:txBody>
      </p:sp>
      <p:sp>
        <p:nvSpPr>
          <p:cNvPr name="TextBox 12" id="12"/>
          <p:cNvSpPr txBox="true"/>
          <p:nvPr/>
        </p:nvSpPr>
        <p:spPr>
          <a:xfrm rot="0">
            <a:off x="1028700" y="5230406"/>
            <a:ext cx="693806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Key Components: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4163754" y="4293667"/>
            <a:ext cx="9960491" cy="2028825"/>
          </a:xfrm>
          <a:prstGeom prst="rect">
            <a:avLst/>
          </a:prstGeom>
        </p:spPr>
        <p:txBody>
          <a:bodyPr anchor="t" rtlCol="false" tIns="0" lIns="0" bIns="0" rIns="0">
            <a:spAutoFit/>
          </a:bodyPr>
          <a:lstStyle/>
          <a:p>
            <a:pPr algn="ctr" marL="0" indent="0" lvl="0">
              <a:lnSpc>
                <a:spcPts val="4079"/>
              </a:lnSpc>
            </a:pPr>
            <a:r>
              <a:rPr lang="en-US" sz="2400">
                <a:solidFill>
                  <a:srgbClr val="0F4662"/>
                </a:solidFill>
                <a:latin typeface="Quicksand"/>
                <a:ea typeface="Quicksand"/>
                <a:cs typeface="Quicksand"/>
                <a:sym typeface="Quicksand"/>
              </a:rPr>
              <a:t>This project creates a Portfolio Prediction Model that forecasts stock prices and provides actionable insights for portfolio managers. The model utilizes Long Short-Term Memory (LSTM) networks to capture sequential dependencies in stock market data.</a:t>
            </a:r>
          </a:p>
        </p:txBody>
      </p:sp>
      <p:sp>
        <p:nvSpPr>
          <p:cNvPr name="AutoShape 3" id="3"/>
          <p:cNvSpPr/>
          <p:nvPr/>
        </p:nvSpPr>
        <p:spPr>
          <a:xfrm>
            <a:off x="5897880" y="3568974"/>
            <a:ext cx="6492240" cy="0"/>
          </a:xfrm>
          <a:prstGeom prst="line">
            <a:avLst/>
          </a:prstGeom>
          <a:ln cap="flat" w="76200">
            <a:solidFill>
              <a:srgbClr val="0F4662"/>
            </a:solidFill>
            <a:prstDash val="solid"/>
            <a:headEnd type="none" len="sm" w="sm"/>
            <a:tailEnd type="none" len="sm" w="sm"/>
          </a:ln>
        </p:spPr>
      </p:sp>
      <p:sp>
        <p:nvSpPr>
          <p:cNvPr name="AutoShape 4" id="4"/>
          <p:cNvSpPr/>
          <p:nvPr/>
        </p:nvSpPr>
        <p:spPr>
          <a:xfrm>
            <a:off x="5897880" y="7171009"/>
            <a:ext cx="6492240" cy="0"/>
          </a:xfrm>
          <a:prstGeom prst="line">
            <a:avLst/>
          </a:prstGeom>
          <a:ln cap="flat" w="76200">
            <a:solidFill>
              <a:srgbClr val="0F4662"/>
            </a:solidFill>
            <a:prstDash val="solid"/>
            <a:headEnd type="none" len="sm" w="sm"/>
            <a:tailEnd type="none" len="sm" w="sm"/>
          </a:ln>
        </p:spPr>
      </p:sp>
      <p:sp>
        <p:nvSpPr>
          <p:cNvPr name="Freeform 5" id="5"/>
          <p:cNvSpPr/>
          <p:nvPr/>
        </p:nvSpPr>
        <p:spPr>
          <a:xfrm flipH="false" flipV="false" rot="0">
            <a:off x="8304001" y="2470557"/>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028700" y="599709"/>
            <a:ext cx="804816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Introduction</a:t>
            </a:r>
          </a:p>
        </p:txBody>
      </p:sp>
      <p:sp>
        <p:nvSpPr>
          <p:cNvPr name="Freeform 7" id="7"/>
          <p:cNvSpPr/>
          <p:nvPr/>
        </p:nvSpPr>
        <p:spPr>
          <a:xfrm flipH="false" flipV="false" rot="0">
            <a:off x="8304001" y="8019527"/>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7038622" y="4099272"/>
            <a:ext cx="4210757" cy="3273864"/>
          </a:xfrm>
          <a:custGeom>
            <a:avLst/>
            <a:gdLst/>
            <a:ahLst/>
            <a:cxnLst/>
            <a:rect r="r" b="b" t="t" l="l"/>
            <a:pathLst>
              <a:path h="3273864" w="4210757">
                <a:moveTo>
                  <a:pt x="0" y="0"/>
                </a:moveTo>
                <a:lnTo>
                  <a:pt x="4210756" y="0"/>
                </a:lnTo>
                <a:lnTo>
                  <a:pt x="4210756" y="3273864"/>
                </a:lnTo>
                <a:lnTo>
                  <a:pt x="0" y="3273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a:off x="2027699" y="5114925"/>
            <a:ext cx="4344915" cy="0"/>
          </a:xfrm>
          <a:prstGeom prst="line">
            <a:avLst/>
          </a:prstGeom>
          <a:ln cap="flat" w="57150">
            <a:solidFill>
              <a:srgbClr val="7994A0"/>
            </a:solidFill>
            <a:prstDash val="solid"/>
            <a:headEnd type="none" len="sm" w="sm"/>
            <a:tailEnd type="none" len="sm" w="sm"/>
          </a:ln>
        </p:spPr>
      </p:sp>
      <p:sp>
        <p:nvSpPr>
          <p:cNvPr name="AutoShape 4" id="4"/>
          <p:cNvSpPr/>
          <p:nvPr/>
        </p:nvSpPr>
        <p:spPr>
          <a:xfrm>
            <a:off x="11911071" y="7344561"/>
            <a:ext cx="4346753" cy="0"/>
          </a:xfrm>
          <a:prstGeom prst="line">
            <a:avLst/>
          </a:prstGeom>
          <a:ln cap="flat" w="57150">
            <a:solidFill>
              <a:srgbClr val="7994A0"/>
            </a:solidFill>
            <a:prstDash val="solid"/>
            <a:headEnd type="none" len="sm" w="sm"/>
            <a:tailEnd type="none" len="sm" w="sm"/>
          </a:ln>
        </p:spPr>
      </p:sp>
      <p:sp>
        <p:nvSpPr>
          <p:cNvPr name="AutoShape 5" id="5"/>
          <p:cNvSpPr/>
          <p:nvPr/>
        </p:nvSpPr>
        <p:spPr>
          <a:xfrm flipV="true">
            <a:off x="1660540" y="8483796"/>
            <a:ext cx="4716390" cy="0"/>
          </a:xfrm>
          <a:prstGeom prst="line">
            <a:avLst/>
          </a:prstGeom>
          <a:ln cap="flat" w="57150">
            <a:solidFill>
              <a:srgbClr val="7994A0"/>
            </a:solidFill>
            <a:prstDash val="solid"/>
            <a:headEnd type="none" len="sm" w="sm"/>
            <a:tailEnd type="none" len="sm" w="sm"/>
          </a:ln>
        </p:spPr>
      </p:sp>
      <p:sp>
        <p:nvSpPr>
          <p:cNvPr name="TextBox 6" id="6"/>
          <p:cNvSpPr txBox="true"/>
          <p:nvPr/>
        </p:nvSpPr>
        <p:spPr>
          <a:xfrm rot="0">
            <a:off x="1024384" y="599709"/>
            <a:ext cx="14072064"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Introduction</a:t>
            </a:r>
          </a:p>
        </p:txBody>
      </p:sp>
      <p:sp>
        <p:nvSpPr>
          <p:cNvPr name="TextBox 7" id="7"/>
          <p:cNvSpPr txBox="true"/>
          <p:nvPr/>
        </p:nvSpPr>
        <p:spPr>
          <a:xfrm rot="0">
            <a:off x="1033167" y="3744725"/>
            <a:ext cx="5348229" cy="834390"/>
          </a:xfrm>
          <a:prstGeom prst="rect">
            <a:avLst/>
          </a:prstGeom>
        </p:spPr>
        <p:txBody>
          <a:bodyPr anchor="t" rtlCol="false" tIns="0" lIns="0" bIns="0" rIns="0">
            <a:spAutoFit/>
          </a:bodyPr>
          <a:lstStyle/>
          <a:p>
            <a:pPr algn="r" marL="0" indent="0" lvl="0">
              <a:lnSpc>
                <a:spcPts val="3359"/>
              </a:lnSpc>
              <a:spcBef>
                <a:spcPct val="0"/>
              </a:spcBef>
            </a:pPr>
            <a:r>
              <a:rPr lang="en-US" sz="2400">
                <a:solidFill>
                  <a:srgbClr val="0F4662"/>
                </a:solidFill>
                <a:latin typeface="Quicksand"/>
                <a:ea typeface="Quicksand"/>
                <a:cs typeface="Quicksand"/>
                <a:sym typeface="Quicksand"/>
              </a:rPr>
              <a:t>Close Price of a stock, for predicting stock prices in volatile markets.</a:t>
            </a:r>
          </a:p>
        </p:txBody>
      </p:sp>
      <p:sp>
        <p:nvSpPr>
          <p:cNvPr name="TextBox 8" id="8"/>
          <p:cNvSpPr txBox="true"/>
          <p:nvPr/>
        </p:nvSpPr>
        <p:spPr>
          <a:xfrm rot="0">
            <a:off x="1024384" y="3161819"/>
            <a:ext cx="5348229" cy="490855"/>
          </a:xfrm>
          <a:prstGeom prst="rect">
            <a:avLst/>
          </a:prstGeom>
        </p:spPr>
        <p:txBody>
          <a:bodyPr anchor="t" rtlCol="false" tIns="0" lIns="0" bIns="0" rIns="0">
            <a:spAutoFit/>
          </a:bodyPr>
          <a:lstStyle/>
          <a:p>
            <a:pPr algn="r" marL="0" indent="0" lvl="0">
              <a:lnSpc>
                <a:spcPts val="3919"/>
              </a:lnSpc>
              <a:spcBef>
                <a:spcPct val="0"/>
              </a:spcBef>
            </a:pPr>
            <a:r>
              <a:rPr lang="en-US" b="true" sz="2799">
                <a:solidFill>
                  <a:srgbClr val="0F4662"/>
                </a:solidFill>
                <a:latin typeface="Quicksand Bold"/>
                <a:ea typeface="Quicksand Bold"/>
                <a:cs typeface="Quicksand Bold"/>
                <a:sym typeface="Quicksand Bold"/>
              </a:rPr>
              <a:t>Using:</a:t>
            </a:r>
          </a:p>
        </p:txBody>
      </p:sp>
      <p:sp>
        <p:nvSpPr>
          <p:cNvPr name="TextBox 9" id="9"/>
          <p:cNvSpPr txBox="true"/>
          <p:nvPr/>
        </p:nvSpPr>
        <p:spPr>
          <a:xfrm rot="0">
            <a:off x="11916128" y="5057775"/>
            <a:ext cx="5348229" cy="167259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F4662"/>
                </a:solidFill>
                <a:latin typeface="Quicksand"/>
                <a:ea typeface="Quicksand"/>
                <a:cs typeface="Quicksand"/>
                <a:sym typeface="Quicksand"/>
              </a:rPr>
              <a:t>Data mining techniques.</a:t>
            </a:r>
          </a:p>
          <a:p>
            <a:pPr algn="l" marL="518160" indent="-259080" lvl="1">
              <a:lnSpc>
                <a:spcPts val="3359"/>
              </a:lnSpc>
              <a:buFont typeface="Arial"/>
              <a:buChar char="•"/>
            </a:pPr>
            <a:r>
              <a:rPr lang="en-US" sz="2400">
                <a:solidFill>
                  <a:srgbClr val="0F4662"/>
                </a:solidFill>
                <a:latin typeface="Quicksand"/>
                <a:ea typeface="Quicksand"/>
                <a:cs typeface="Quicksand"/>
                <a:sym typeface="Quicksand"/>
              </a:rPr>
              <a:t>Sequential modeling (LSTM).</a:t>
            </a:r>
          </a:p>
          <a:p>
            <a:pPr algn="l" marL="518160" indent="-259080" lvl="1">
              <a:lnSpc>
                <a:spcPts val="3359"/>
              </a:lnSpc>
              <a:spcBef>
                <a:spcPct val="0"/>
              </a:spcBef>
              <a:buFont typeface="Arial"/>
              <a:buChar char="•"/>
            </a:pPr>
            <a:r>
              <a:rPr lang="en-US" sz="2400">
                <a:solidFill>
                  <a:srgbClr val="0F4662"/>
                </a:solidFill>
                <a:latin typeface="Quicksand"/>
                <a:ea typeface="Quicksand"/>
                <a:cs typeface="Quicksand"/>
                <a:sym typeface="Quicksand"/>
              </a:rPr>
              <a:t>Financial</a:t>
            </a:r>
            <a:r>
              <a:rPr lang="en-US" sz="2400">
                <a:solidFill>
                  <a:srgbClr val="0F4662"/>
                </a:solidFill>
                <a:latin typeface="Quicksand"/>
                <a:ea typeface="Quicksand"/>
                <a:cs typeface="Quicksand"/>
                <a:sym typeface="Quicksand"/>
              </a:rPr>
              <a:t> insights through profit/loss metrics.</a:t>
            </a:r>
          </a:p>
        </p:txBody>
      </p:sp>
      <p:sp>
        <p:nvSpPr>
          <p:cNvPr name="TextBox 10" id="10"/>
          <p:cNvSpPr txBox="true"/>
          <p:nvPr/>
        </p:nvSpPr>
        <p:spPr>
          <a:xfrm rot="0">
            <a:off x="11911071" y="4507360"/>
            <a:ext cx="5348229"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Integration of:</a:t>
            </a:r>
          </a:p>
        </p:txBody>
      </p:sp>
      <p:sp>
        <p:nvSpPr>
          <p:cNvPr name="TextBox 11" id="11"/>
          <p:cNvSpPr txBox="true"/>
          <p:nvPr/>
        </p:nvSpPr>
        <p:spPr>
          <a:xfrm rot="0">
            <a:off x="1024384" y="6990424"/>
            <a:ext cx="5352545" cy="1672590"/>
          </a:xfrm>
          <a:prstGeom prst="rect">
            <a:avLst/>
          </a:prstGeom>
        </p:spPr>
        <p:txBody>
          <a:bodyPr anchor="t" rtlCol="false" tIns="0" lIns="0" bIns="0" rIns="0">
            <a:spAutoFit/>
          </a:bodyPr>
          <a:lstStyle/>
          <a:p>
            <a:pPr algn="r">
              <a:lnSpc>
                <a:spcPts val="3359"/>
              </a:lnSpc>
            </a:pPr>
            <a:r>
              <a:rPr lang="en-US" sz="2400">
                <a:solidFill>
                  <a:srgbClr val="0F4662"/>
                </a:solidFill>
                <a:latin typeface="Quicksand"/>
                <a:ea typeface="Quicksand"/>
                <a:cs typeface="Quicksand"/>
                <a:sym typeface="Quicksand"/>
              </a:rPr>
              <a:t> Apple (AAPL): 50%</a:t>
            </a:r>
          </a:p>
          <a:p>
            <a:pPr algn="r">
              <a:lnSpc>
                <a:spcPts val="3359"/>
              </a:lnSpc>
            </a:pPr>
            <a:r>
              <a:rPr lang="en-US" sz="2400">
                <a:solidFill>
                  <a:srgbClr val="0F4662"/>
                </a:solidFill>
                <a:latin typeface="Quicksand"/>
                <a:ea typeface="Quicksand"/>
                <a:cs typeface="Quicksand"/>
                <a:sym typeface="Quicksand"/>
              </a:rPr>
              <a:t>Tesla (TSLA): 30%</a:t>
            </a:r>
          </a:p>
          <a:p>
            <a:pPr algn="r">
              <a:lnSpc>
                <a:spcPts val="3359"/>
              </a:lnSpc>
            </a:pPr>
            <a:r>
              <a:rPr lang="en-US" sz="2400">
                <a:solidFill>
                  <a:srgbClr val="0F4662"/>
                </a:solidFill>
                <a:latin typeface="Quicksand"/>
                <a:ea typeface="Quicksand"/>
                <a:cs typeface="Quicksand"/>
                <a:sym typeface="Quicksand"/>
              </a:rPr>
              <a:t>Google (GOOGL): 20%</a:t>
            </a:r>
          </a:p>
          <a:p>
            <a:pPr algn="r">
              <a:lnSpc>
                <a:spcPts val="3359"/>
              </a:lnSpc>
            </a:pPr>
          </a:p>
        </p:txBody>
      </p:sp>
      <p:sp>
        <p:nvSpPr>
          <p:cNvPr name="TextBox 12" id="12"/>
          <p:cNvSpPr txBox="true"/>
          <p:nvPr/>
        </p:nvSpPr>
        <p:spPr>
          <a:xfrm rot="0">
            <a:off x="1020068" y="6513768"/>
            <a:ext cx="5352545" cy="490855"/>
          </a:xfrm>
          <a:prstGeom prst="rect">
            <a:avLst/>
          </a:prstGeom>
        </p:spPr>
        <p:txBody>
          <a:bodyPr anchor="t" rtlCol="false" tIns="0" lIns="0" bIns="0" rIns="0">
            <a:spAutoFit/>
          </a:bodyPr>
          <a:lstStyle/>
          <a:p>
            <a:pPr algn="r" marL="0" indent="0" lvl="0">
              <a:lnSpc>
                <a:spcPts val="3919"/>
              </a:lnSpc>
              <a:spcBef>
                <a:spcPct val="0"/>
              </a:spcBef>
            </a:pPr>
            <a:r>
              <a:rPr lang="en-US" b="true" sz="2799">
                <a:solidFill>
                  <a:srgbClr val="0F4662"/>
                </a:solidFill>
                <a:latin typeface="Quicksand Bold"/>
                <a:ea typeface="Quicksand Bold"/>
                <a:cs typeface="Quicksand Bold"/>
                <a:sym typeface="Quicksand Bold"/>
              </a:rPr>
              <a:t>Portfolio conists of:</a:t>
            </a:r>
          </a:p>
        </p:txBody>
      </p:sp>
      <p:sp>
        <p:nvSpPr>
          <p:cNvPr name="Freeform 13" id="13"/>
          <p:cNvSpPr/>
          <p:nvPr/>
        </p:nvSpPr>
        <p:spPr>
          <a:xfrm flipH="false" flipV="false" rot="0">
            <a:off x="15579303" y="714009"/>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024384" y="9529723"/>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886761" y="2456695"/>
            <a:ext cx="5385764" cy="6426664"/>
            <a:chOff x="0" y="0"/>
            <a:chExt cx="1418473" cy="1692619"/>
          </a:xfrm>
        </p:grpSpPr>
        <p:sp>
          <p:nvSpPr>
            <p:cNvPr name="Freeform 3" id="3"/>
            <p:cNvSpPr/>
            <p:nvPr/>
          </p:nvSpPr>
          <p:spPr>
            <a:xfrm flipH="false" flipV="false" rot="0">
              <a:off x="0" y="0"/>
              <a:ext cx="1418473" cy="1692619"/>
            </a:xfrm>
            <a:custGeom>
              <a:avLst/>
              <a:gdLst/>
              <a:ahLst/>
              <a:cxnLst/>
              <a:rect r="r" b="b" t="t" l="l"/>
              <a:pathLst>
                <a:path h="1692619" w="1418473">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sp>
        <p:sp>
          <p:nvSpPr>
            <p:cNvPr name="TextBox 4" id="4"/>
            <p:cNvSpPr txBox="true"/>
            <p:nvPr/>
          </p:nvSpPr>
          <p:spPr>
            <a:xfrm>
              <a:off x="0" y="-123825"/>
              <a:ext cx="1418473" cy="1816444"/>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2405199" y="2877488"/>
            <a:ext cx="2348889" cy="2348889"/>
          </a:xfrm>
          <a:custGeom>
            <a:avLst/>
            <a:gdLst/>
            <a:ahLst/>
            <a:cxnLst/>
            <a:rect r="r" b="b" t="t" l="l"/>
            <a:pathLst>
              <a:path h="2348889" w="2348889">
                <a:moveTo>
                  <a:pt x="0" y="0"/>
                </a:moveTo>
                <a:lnTo>
                  <a:pt x="2348889" y="0"/>
                </a:lnTo>
                <a:lnTo>
                  <a:pt x="2348889" y="2348889"/>
                </a:lnTo>
                <a:lnTo>
                  <a:pt x="0" y="23488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6451118" y="2456695"/>
            <a:ext cx="5385764" cy="6426664"/>
            <a:chOff x="0" y="0"/>
            <a:chExt cx="1418473" cy="1692619"/>
          </a:xfrm>
        </p:grpSpPr>
        <p:sp>
          <p:nvSpPr>
            <p:cNvPr name="Freeform 7" id="7"/>
            <p:cNvSpPr/>
            <p:nvPr/>
          </p:nvSpPr>
          <p:spPr>
            <a:xfrm flipH="false" flipV="false" rot="0">
              <a:off x="0" y="0"/>
              <a:ext cx="1418473" cy="1692619"/>
            </a:xfrm>
            <a:custGeom>
              <a:avLst/>
              <a:gdLst/>
              <a:ahLst/>
              <a:cxnLst/>
              <a:rect r="r" b="b" t="t" l="l"/>
              <a:pathLst>
                <a:path h="1692619" w="1418473">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A9BECB"/>
            </a:solidFill>
          </p:spPr>
        </p:sp>
        <p:sp>
          <p:nvSpPr>
            <p:cNvPr name="TextBox 8" id="8"/>
            <p:cNvSpPr txBox="true"/>
            <p:nvPr/>
          </p:nvSpPr>
          <p:spPr>
            <a:xfrm>
              <a:off x="0" y="-123825"/>
              <a:ext cx="1418473" cy="1816444"/>
            </a:xfrm>
            <a:prstGeom prst="rect">
              <a:avLst/>
            </a:prstGeom>
          </p:spPr>
          <p:txBody>
            <a:bodyPr anchor="ctr" rtlCol="false" tIns="50800" lIns="50800" bIns="50800" rIns="50800"/>
            <a:lstStyle/>
            <a:p>
              <a:pPr algn="ctr">
                <a:lnSpc>
                  <a:spcPts val="4079"/>
                </a:lnSpc>
              </a:pPr>
            </a:p>
          </p:txBody>
        </p:sp>
      </p:grpSp>
      <p:sp>
        <p:nvSpPr>
          <p:cNvPr name="Freeform 9" id="9"/>
          <p:cNvSpPr/>
          <p:nvPr/>
        </p:nvSpPr>
        <p:spPr>
          <a:xfrm flipH="false" flipV="false" rot="0">
            <a:off x="7984503" y="2877488"/>
            <a:ext cx="2318994" cy="2348889"/>
          </a:xfrm>
          <a:custGeom>
            <a:avLst/>
            <a:gdLst/>
            <a:ahLst/>
            <a:cxnLst/>
            <a:rect r="r" b="b" t="t" l="l"/>
            <a:pathLst>
              <a:path h="2348889" w="2318994">
                <a:moveTo>
                  <a:pt x="0" y="0"/>
                </a:moveTo>
                <a:lnTo>
                  <a:pt x="2318994" y="0"/>
                </a:lnTo>
                <a:lnTo>
                  <a:pt x="2318994" y="2348889"/>
                </a:lnTo>
                <a:lnTo>
                  <a:pt x="0" y="23488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12015475" y="2456695"/>
            <a:ext cx="5385764" cy="6426664"/>
            <a:chOff x="0" y="0"/>
            <a:chExt cx="1418473" cy="1692619"/>
          </a:xfrm>
        </p:grpSpPr>
        <p:sp>
          <p:nvSpPr>
            <p:cNvPr name="Freeform 11" id="11"/>
            <p:cNvSpPr/>
            <p:nvPr/>
          </p:nvSpPr>
          <p:spPr>
            <a:xfrm flipH="false" flipV="false" rot="0">
              <a:off x="0" y="0"/>
              <a:ext cx="1418473" cy="1692619"/>
            </a:xfrm>
            <a:custGeom>
              <a:avLst/>
              <a:gdLst/>
              <a:ahLst/>
              <a:cxnLst/>
              <a:rect r="r" b="b" t="t" l="l"/>
              <a:pathLst>
                <a:path h="1692619" w="1418473">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sp>
        <p:sp>
          <p:nvSpPr>
            <p:cNvPr name="TextBox 12" id="12"/>
            <p:cNvSpPr txBox="true"/>
            <p:nvPr/>
          </p:nvSpPr>
          <p:spPr>
            <a:xfrm>
              <a:off x="0" y="-123825"/>
              <a:ext cx="1418473" cy="1816444"/>
            </a:xfrm>
            <a:prstGeom prst="rect">
              <a:avLst/>
            </a:prstGeom>
          </p:spPr>
          <p:txBody>
            <a:bodyPr anchor="ctr" rtlCol="false" tIns="50800" lIns="50800" bIns="50800" rIns="50800"/>
            <a:lstStyle/>
            <a:p>
              <a:pPr algn="ctr">
                <a:lnSpc>
                  <a:spcPts val="4079"/>
                </a:lnSpc>
              </a:pPr>
            </a:p>
          </p:txBody>
        </p:sp>
      </p:grpSp>
      <p:sp>
        <p:nvSpPr>
          <p:cNvPr name="Freeform 13" id="13"/>
          <p:cNvSpPr/>
          <p:nvPr/>
        </p:nvSpPr>
        <p:spPr>
          <a:xfrm flipH="false" flipV="false" rot="0">
            <a:off x="13595029" y="3088463"/>
            <a:ext cx="2226655" cy="2226655"/>
          </a:xfrm>
          <a:custGeom>
            <a:avLst/>
            <a:gdLst/>
            <a:ahLst/>
            <a:cxnLst/>
            <a:rect r="r" b="b" t="t" l="l"/>
            <a:pathLst>
              <a:path h="2226655" w="2226655">
                <a:moveTo>
                  <a:pt x="0" y="0"/>
                </a:moveTo>
                <a:lnTo>
                  <a:pt x="2226655" y="0"/>
                </a:lnTo>
                <a:lnTo>
                  <a:pt x="2226655" y="2226655"/>
                </a:lnTo>
                <a:lnTo>
                  <a:pt x="0" y="222665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1028700" y="419100"/>
            <a:ext cx="9148177" cy="1028700"/>
          </a:xfrm>
          <a:prstGeom prst="rect">
            <a:avLst/>
          </a:prstGeom>
        </p:spPr>
        <p:txBody>
          <a:bodyPr anchor="t" rtlCol="false" tIns="0" lIns="0" bIns="0" rIns="0">
            <a:spAutoFit/>
          </a:bodyPr>
          <a:lstStyle/>
          <a:p>
            <a:pPr algn="l" marL="0" indent="0" lvl="0">
              <a:lnSpc>
                <a:spcPts val="8400"/>
              </a:lnSpc>
              <a:spcBef>
                <a:spcPct val="0"/>
              </a:spcBef>
            </a:pPr>
            <a:r>
              <a:rPr lang="en-US" b="true" sz="6000" i="true">
                <a:solidFill>
                  <a:srgbClr val="0F4662"/>
                </a:solidFill>
                <a:latin typeface="Cormorant Garamond Bold Italics"/>
                <a:ea typeface="Cormorant Garamond Bold Italics"/>
                <a:cs typeface="Cormorant Garamond Bold Italics"/>
                <a:sym typeface="Cormorant Garamond Bold Italics"/>
              </a:rPr>
              <a:t>Data Collection and Preparation</a:t>
            </a:r>
          </a:p>
        </p:txBody>
      </p:sp>
      <p:sp>
        <p:nvSpPr>
          <p:cNvPr name="TextBox 15" id="15"/>
          <p:cNvSpPr txBox="true"/>
          <p:nvPr/>
        </p:nvSpPr>
        <p:spPr>
          <a:xfrm rot="0">
            <a:off x="1028700" y="6247240"/>
            <a:ext cx="5101887" cy="15144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Data is extracted using the ‘yfinance’ library, which provides historical stock data. </a:t>
            </a:r>
          </a:p>
        </p:txBody>
      </p:sp>
      <p:sp>
        <p:nvSpPr>
          <p:cNvPr name="TextBox 16" id="16"/>
          <p:cNvSpPr txBox="true"/>
          <p:nvPr/>
        </p:nvSpPr>
        <p:spPr>
          <a:xfrm rot="0">
            <a:off x="1028700" y="5552362"/>
            <a:ext cx="510188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Data Source</a:t>
            </a:r>
          </a:p>
        </p:txBody>
      </p:sp>
      <p:sp>
        <p:nvSpPr>
          <p:cNvPr name="TextBox 17" id="17"/>
          <p:cNvSpPr txBox="true"/>
          <p:nvPr/>
        </p:nvSpPr>
        <p:spPr>
          <a:xfrm rot="0">
            <a:off x="6593057" y="6247240"/>
            <a:ext cx="5101887" cy="15144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Open, High, Low, and Close prices.</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Volume, Dividends, Stock Splits.</a:t>
            </a:r>
          </a:p>
        </p:txBody>
      </p:sp>
      <p:sp>
        <p:nvSpPr>
          <p:cNvPr name="TextBox 18" id="18"/>
          <p:cNvSpPr txBox="true"/>
          <p:nvPr/>
        </p:nvSpPr>
        <p:spPr>
          <a:xfrm rot="0">
            <a:off x="6593057" y="5580494"/>
            <a:ext cx="510188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Features</a:t>
            </a:r>
          </a:p>
        </p:txBody>
      </p:sp>
      <p:sp>
        <p:nvSpPr>
          <p:cNvPr name="TextBox 19" id="19"/>
          <p:cNvSpPr txBox="true"/>
          <p:nvPr/>
        </p:nvSpPr>
        <p:spPr>
          <a:xfrm rot="0">
            <a:off x="12303607" y="6247240"/>
            <a:ext cx="4496348" cy="20288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Handle missing data with forward-fill.</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Remove outliers.</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Drop irrelevant columns </a:t>
            </a:r>
          </a:p>
        </p:txBody>
      </p:sp>
      <p:sp>
        <p:nvSpPr>
          <p:cNvPr name="TextBox 20" id="20"/>
          <p:cNvSpPr txBox="true"/>
          <p:nvPr/>
        </p:nvSpPr>
        <p:spPr>
          <a:xfrm rot="0">
            <a:off x="12160732" y="5603352"/>
            <a:ext cx="510188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Preprocessing Steps</a:t>
            </a:r>
          </a:p>
        </p:txBody>
      </p:sp>
      <p:sp>
        <p:nvSpPr>
          <p:cNvPr name="AutoShape 21" id="21"/>
          <p:cNvSpPr/>
          <p:nvPr/>
        </p:nvSpPr>
        <p:spPr>
          <a:xfrm>
            <a:off x="10767060" y="990600"/>
            <a:ext cx="6492240" cy="0"/>
          </a:xfrm>
          <a:prstGeom prst="line">
            <a:avLst/>
          </a:prstGeom>
          <a:ln cap="flat" w="76200">
            <a:solidFill>
              <a:srgbClr val="0F4662"/>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BE5EA"/>
        </a:solidFill>
      </p:bgPr>
    </p:bg>
    <p:spTree>
      <p:nvGrpSpPr>
        <p:cNvPr id="1" name=""/>
        <p:cNvGrpSpPr/>
        <p:nvPr/>
      </p:nvGrpSpPr>
      <p:grpSpPr>
        <a:xfrm>
          <a:off x="0" y="0"/>
          <a:ext cx="0" cy="0"/>
          <a:chOff x="0" y="0"/>
          <a:chExt cx="0" cy="0"/>
        </a:xfrm>
      </p:grpSpPr>
      <p:grpSp>
        <p:nvGrpSpPr>
          <p:cNvPr name="Group 2" id="2"/>
          <p:cNvGrpSpPr/>
          <p:nvPr/>
        </p:nvGrpSpPr>
        <p:grpSpPr>
          <a:xfrm rot="0">
            <a:off x="1028700" y="3669551"/>
            <a:ext cx="7514133" cy="6330250"/>
            <a:chOff x="0" y="0"/>
            <a:chExt cx="1979031" cy="1667226"/>
          </a:xfrm>
        </p:grpSpPr>
        <p:sp>
          <p:nvSpPr>
            <p:cNvPr name="Freeform 3" id="3"/>
            <p:cNvSpPr/>
            <p:nvPr/>
          </p:nvSpPr>
          <p:spPr>
            <a:xfrm flipH="false" flipV="false" rot="0">
              <a:off x="0" y="0"/>
              <a:ext cx="1979031" cy="1667227"/>
            </a:xfrm>
            <a:custGeom>
              <a:avLst/>
              <a:gdLst/>
              <a:ahLst/>
              <a:cxnLst/>
              <a:rect r="r" b="b" t="t" l="l"/>
              <a:pathLst>
                <a:path h="1667227" w="1979031">
                  <a:moveTo>
                    <a:pt x="52546" y="0"/>
                  </a:moveTo>
                  <a:lnTo>
                    <a:pt x="1926485" y="0"/>
                  </a:lnTo>
                  <a:cubicBezTo>
                    <a:pt x="1955505" y="0"/>
                    <a:pt x="1979031" y="23526"/>
                    <a:pt x="1979031" y="52546"/>
                  </a:cubicBezTo>
                  <a:lnTo>
                    <a:pt x="1979031" y="1614681"/>
                  </a:lnTo>
                  <a:cubicBezTo>
                    <a:pt x="1979031" y="1628617"/>
                    <a:pt x="1973495" y="1641982"/>
                    <a:pt x="1963641" y="1651836"/>
                  </a:cubicBezTo>
                  <a:cubicBezTo>
                    <a:pt x="1953786" y="1661690"/>
                    <a:pt x="1940421" y="1667227"/>
                    <a:pt x="1926485" y="1667227"/>
                  </a:cubicBezTo>
                  <a:lnTo>
                    <a:pt x="52546" y="1667227"/>
                  </a:lnTo>
                  <a:cubicBezTo>
                    <a:pt x="38610" y="1667227"/>
                    <a:pt x="25245" y="1661690"/>
                    <a:pt x="15390" y="1651836"/>
                  </a:cubicBezTo>
                  <a:cubicBezTo>
                    <a:pt x="5536" y="1641982"/>
                    <a:pt x="0" y="1628617"/>
                    <a:pt x="0" y="1614681"/>
                  </a:cubicBezTo>
                  <a:lnTo>
                    <a:pt x="0" y="52546"/>
                  </a:lnTo>
                  <a:cubicBezTo>
                    <a:pt x="0" y="23526"/>
                    <a:pt x="23526" y="0"/>
                    <a:pt x="52546" y="0"/>
                  </a:cubicBezTo>
                  <a:close/>
                </a:path>
              </a:pathLst>
            </a:custGeom>
            <a:solidFill>
              <a:srgbClr val="FFFFFF"/>
            </a:solidFill>
          </p:spPr>
        </p:sp>
        <p:sp>
          <p:nvSpPr>
            <p:cNvPr name="TextBox 4" id="4"/>
            <p:cNvSpPr txBox="true"/>
            <p:nvPr/>
          </p:nvSpPr>
          <p:spPr>
            <a:xfrm>
              <a:off x="0" y="-123825"/>
              <a:ext cx="1979031" cy="1791051"/>
            </a:xfrm>
            <a:prstGeom prst="rect">
              <a:avLst/>
            </a:prstGeom>
          </p:spPr>
          <p:txBody>
            <a:bodyPr anchor="ctr" rtlCol="false" tIns="50800" lIns="50800" bIns="50800" rIns="50800"/>
            <a:lstStyle/>
            <a:p>
              <a:pPr algn="ctr">
                <a:lnSpc>
                  <a:spcPts val="4079"/>
                </a:lnSpc>
              </a:pPr>
            </a:p>
          </p:txBody>
        </p:sp>
      </p:grpSp>
      <p:grpSp>
        <p:nvGrpSpPr>
          <p:cNvPr name="Group 5" id="5"/>
          <p:cNvGrpSpPr/>
          <p:nvPr/>
        </p:nvGrpSpPr>
        <p:grpSpPr>
          <a:xfrm rot="0">
            <a:off x="9745167" y="3669551"/>
            <a:ext cx="7514133" cy="6260364"/>
            <a:chOff x="0" y="0"/>
            <a:chExt cx="1979031" cy="1648820"/>
          </a:xfrm>
        </p:grpSpPr>
        <p:sp>
          <p:nvSpPr>
            <p:cNvPr name="Freeform 6" id="6"/>
            <p:cNvSpPr/>
            <p:nvPr/>
          </p:nvSpPr>
          <p:spPr>
            <a:xfrm flipH="false" flipV="false" rot="0">
              <a:off x="0" y="0"/>
              <a:ext cx="1979031" cy="1648820"/>
            </a:xfrm>
            <a:custGeom>
              <a:avLst/>
              <a:gdLst/>
              <a:ahLst/>
              <a:cxnLst/>
              <a:rect r="r" b="b" t="t" l="l"/>
              <a:pathLst>
                <a:path h="1648820" w="1979031">
                  <a:moveTo>
                    <a:pt x="52546" y="0"/>
                  </a:moveTo>
                  <a:lnTo>
                    <a:pt x="1926485" y="0"/>
                  </a:lnTo>
                  <a:cubicBezTo>
                    <a:pt x="1955505" y="0"/>
                    <a:pt x="1979031" y="23526"/>
                    <a:pt x="1979031" y="52546"/>
                  </a:cubicBezTo>
                  <a:lnTo>
                    <a:pt x="1979031" y="1596274"/>
                  </a:lnTo>
                  <a:cubicBezTo>
                    <a:pt x="1979031" y="1610210"/>
                    <a:pt x="1973495" y="1623575"/>
                    <a:pt x="1963641" y="1633430"/>
                  </a:cubicBezTo>
                  <a:cubicBezTo>
                    <a:pt x="1953786" y="1643284"/>
                    <a:pt x="1940421" y="1648820"/>
                    <a:pt x="1926485" y="1648820"/>
                  </a:cubicBezTo>
                  <a:lnTo>
                    <a:pt x="52546" y="1648820"/>
                  </a:lnTo>
                  <a:cubicBezTo>
                    <a:pt x="38610" y="1648820"/>
                    <a:pt x="25245" y="1643284"/>
                    <a:pt x="15390" y="1633430"/>
                  </a:cubicBezTo>
                  <a:cubicBezTo>
                    <a:pt x="5536" y="1623575"/>
                    <a:pt x="0" y="1610210"/>
                    <a:pt x="0" y="1596274"/>
                  </a:cubicBezTo>
                  <a:lnTo>
                    <a:pt x="0" y="52546"/>
                  </a:lnTo>
                  <a:cubicBezTo>
                    <a:pt x="0" y="23526"/>
                    <a:pt x="23526" y="0"/>
                    <a:pt x="52546" y="0"/>
                  </a:cubicBezTo>
                  <a:close/>
                </a:path>
              </a:pathLst>
            </a:custGeom>
            <a:solidFill>
              <a:srgbClr val="FFFFFF"/>
            </a:solidFill>
          </p:spPr>
        </p:sp>
        <p:sp>
          <p:nvSpPr>
            <p:cNvPr name="TextBox 7" id="7"/>
            <p:cNvSpPr txBox="true"/>
            <p:nvPr/>
          </p:nvSpPr>
          <p:spPr>
            <a:xfrm>
              <a:off x="0" y="-123825"/>
              <a:ext cx="1979031" cy="1772645"/>
            </a:xfrm>
            <a:prstGeom prst="rect">
              <a:avLst/>
            </a:prstGeom>
          </p:spPr>
          <p:txBody>
            <a:bodyPr anchor="ctr" rtlCol="false" tIns="50800" lIns="50800" bIns="50800" rIns="50800"/>
            <a:lstStyle/>
            <a:p>
              <a:pPr algn="ctr">
                <a:lnSpc>
                  <a:spcPts val="4079"/>
                </a:lnSpc>
              </a:pPr>
            </a:p>
          </p:txBody>
        </p:sp>
      </p:grpSp>
      <p:sp>
        <p:nvSpPr>
          <p:cNvPr name="Freeform 8" id="8"/>
          <p:cNvSpPr/>
          <p:nvPr/>
        </p:nvSpPr>
        <p:spPr>
          <a:xfrm flipH="false" flipV="false" rot="0">
            <a:off x="1306676" y="4849119"/>
            <a:ext cx="6958182" cy="3971113"/>
          </a:xfrm>
          <a:custGeom>
            <a:avLst/>
            <a:gdLst/>
            <a:ahLst/>
            <a:cxnLst/>
            <a:rect r="r" b="b" t="t" l="l"/>
            <a:pathLst>
              <a:path h="3971113" w="6958182">
                <a:moveTo>
                  <a:pt x="0" y="0"/>
                </a:moveTo>
                <a:lnTo>
                  <a:pt x="6958182" y="0"/>
                </a:lnTo>
                <a:lnTo>
                  <a:pt x="6958182" y="3971113"/>
                </a:lnTo>
                <a:lnTo>
                  <a:pt x="0" y="3971113"/>
                </a:lnTo>
                <a:lnTo>
                  <a:pt x="0" y="0"/>
                </a:lnTo>
                <a:close/>
              </a:path>
            </a:pathLst>
          </a:custGeom>
          <a:blipFill>
            <a:blip r:embed="rId3"/>
            <a:stretch>
              <a:fillRect l="0" t="0" r="0" b="0"/>
            </a:stretch>
          </a:blipFill>
        </p:spPr>
      </p:sp>
      <p:sp>
        <p:nvSpPr>
          <p:cNvPr name="Freeform 9" id="9"/>
          <p:cNvSpPr/>
          <p:nvPr/>
        </p:nvSpPr>
        <p:spPr>
          <a:xfrm flipH="false" flipV="false" rot="0">
            <a:off x="10014629" y="4940561"/>
            <a:ext cx="6975208" cy="3718343"/>
          </a:xfrm>
          <a:custGeom>
            <a:avLst/>
            <a:gdLst/>
            <a:ahLst/>
            <a:cxnLst/>
            <a:rect r="r" b="b" t="t" l="l"/>
            <a:pathLst>
              <a:path h="3718343" w="6975208">
                <a:moveTo>
                  <a:pt x="0" y="0"/>
                </a:moveTo>
                <a:lnTo>
                  <a:pt x="6975208" y="0"/>
                </a:lnTo>
                <a:lnTo>
                  <a:pt x="6975208" y="3718343"/>
                </a:lnTo>
                <a:lnTo>
                  <a:pt x="0" y="3718343"/>
                </a:lnTo>
                <a:lnTo>
                  <a:pt x="0" y="0"/>
                </a:lnTo>
                <a:close/>
              </a:path>
            </a:pathLst>
          </a:custGeom>
          <a:blipFill>
            <a:blip r:embed="rId4"/>
            <a:stretch>
              <a:fillRect l="0" t="0" r="0" b="0"/>
            </a:stretch>
          </a:blipFill>
        </p:spPr>
      </p:sp>
      <p:sp>
        <p:nvSpPr>
          <p:cNvPr name="TextBox 10" id="10"/>
          <p:cNvSpPr txBox="true"/>
          <p:nvPr/>
        </p:nvSpPr>
        <p:spPr>
          <a:xfrm rot="0">
            <a:off x="1028700" y="599709"/>
            <a:ext cx="1032659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Feature Selection</a:t>
            </a:r>
          </a:p>
        </p:txBody>
      </p:sp>
      <p:sp>
        <p:nvSpPr>
          <p:cNvPr name="TextBox 11" id="11"/>
          <p:cNvSpPr txBox="true"/>
          <p:nvPr/>
        </p:nvSpPr>
        <p:spPr>
          <a:xfrm rot="0">
            <a:off x="1028700" y="1934897"/>
            <a:ext cx="16230600" cy="1000125"/>
          </a:xfrm>
          <a:prstGeom prst="rect">
            <a:avLst/>
          </a:prstGeom>
        </p:spPr>
        <p:txBody>
          <a:bodyPr anchor="t" rtlCol="false" tIns="0" lIns="0" bIns="0" rIns="0">
            <a:spAutoFit/>
          </a:bodyPr>
          <a:lstStyle/>
          <a:p>
            <a:pPr algn="l" marL="0" indent="0" lvl="0">
              <a:lnSpc>
                <a:spcPts val="4079"/>
              </a:lnSpc>
            </a:pPr>
            <a:r>
              <a:rPr lang="en-US" sz="2400">
                <a:solidFill>
                  <a:srgbClr val="0F4662"/>
                </a:solidFill>
                <a:latin typeface="Quicksand"/>
                <a:ea typeface="Quicksand"/>
                <a:cs typeface="Quicksand"/>
                <a:sym typeface="Quicksand"/>
              </a:rPr>
              <a:t>A heatmap illustrated a strong correlation among features like `Open`, `High`, `Low`, and `Close`, validating the focus on `Close` for predictions </a:t>
            </a:r>
          </a:p>
        </p:txBody>
      </p:sp>
      <p:sp>
        <p:nvSpPr>
          <p:cNvPr name="TextBox 12" id="12"/>
          <p:cNvSpPr txBox="true"/>
          <p:nvPr/>
        </p:nvSpPr>
        <p:spPr>
          <a:xfrm rot="0">
            <a:off x="11362860" y="8772525"/>
            <a:ext cx="4278747" cy="485775"/>
          </a:xfrm>
          <a:prstGeom prst="rect">
            <a:avLst/>
          </a:prstGeom>
        </p:spPr>
        <p:txBody>
          <a:bodyPr anchor="t" rtlCol="false" tIns="0" lIns="0" bIns="0" rIns="0">
            <a:spAutoFit/>
          </a:bodyPr>
          <a:lstStyle/>
          <a:p>
            <a:pPr algn="l">
              <a:lnSpc>
                <a:spcPts val="4079"/>
              </a:lnSpc>
            </a:pPr>
            <a:r>
              <a:rPr lang="en-US" sz="2400">
                <a:solidFill>
                  <a:srgbClr val="0F4662"/>
                </a:solidFill>
                <a:latin typeface="Quicksand"/>
                <a:ea typeface="Quicksand"/>
                <a:cs typeface="Quicksand"/>
                <a:sym typeface="Quicksand"/>
              </a:rPr>
              <a:t>Historical closing price trends.</a:t>
            </a:r>
          </a:p>
        </p:txBody>
      </p:sp>
      <p:sp>
        <p:nvSpPr>
          <p:cNvPr name="TextBox 13" id="13"/>
          <p:cNvSpPr txBox="true"/>
          <p:nvPr/>
        </p:nvSpPr>
        <p:spPr>
          <a:xfrm rot="0">
            <a:off x="2448932" y="8772525"/>
            <a:ext cx="4673670" cy="485775"/>
          </a:xfrm>
          <a:prstGeom prst="rect">
            <a:avLst/>
          </a:prstGeom>
        </p:spPr>
        <p:txBody>
          <a:bodyPr anchor="t" rtlCol="false" tIns="0" lIns="0" bIns="0" rIns="0">
            <a:spAutoFit/>
          </a:bodyPr>
          <a:lstStyle/>
          <a:p>
            <a:pPr algn="l">
              <a:lnSpc>
                <a:spcPts val="4079"/>
              </a:lnSpc>
            </a:pPr>
            <a:r>
              <a:rPr lang="en-US" sz="2400">
                <a:solidFill>
                  <a:srgbClr val="0F4662"/>
                </a:solidFill>
                <a:latin typeface="Quicksand"/>
                <a:ea typeface="Quicksand"/>
                <a:cs typeface="Quicksand"/>
                <a:sym typeface="Quicksand"/>
              </a:rPr>
              <a:t>Heatmap for feature correlation.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3660651" y="0"/>
            <a:ext cx="4627349" cy="10287000"/>
            <a:chOff x="0" y="0"/>
            <a:chExt cx="1218726" cy="2709333"/>
          </a:xfrm>
        </p:grpSpPr>
        <p:sp>
          <p:nvSpPr>
            <p:cNvPr name="Freeform 3" id="3"/>
            <p:cNvSpPr/>
            <p:nvPr/>
          </p:nvSpPr>
          <p:spPr>
            <a:xfrm flipH="false" flipV="false" rot="0">
              <a:off x="0" y="0"/>
              <a:ext cx="1218726" cy="2709333"/>
            </a:xfrm>
            <a:custGeom>
              <a:avLst/>
              <a:gdLst/>
              <a:ahLst/>
              <a:cxnLst/>
              <a:rect r="r" b="b" t="t" l="l"/>
              <a:pathLst>
                <a:path h="2709333" w="1218726">
                  <a:moveTo>
                    <a:pt x="0" y="0"/>
                  </a:moveTo>
                  <a:lnTo>
                    <a:pt x="1218726" y="0"/>
                  </a:lnTo>
                  <a:lnTo>
                    <a:pt x="1218726" y="2709333"/>
                  </a:lnTo>
                  <a:lnTo>
                    <a:pt x="0" y="2709333"/>
                  </a:lnTo>
                  <a:close/>
                </a:path>
              </a:pathLst>
            </a:custGeom>
            <a:solidFill>
              <a:srgbClr val="7994A0"/>
            </a:solidFill>
          </p:spPr>
        </p:sp>
        <p:sp>
          <p:nvSpPr>
            <p:cNvPr name="TextBox 4" id="4"/>
            <p:cNvSpPr txBox="true"/>
            <p:nvPr/>
          </p:nvSpPr>
          <p:spPr>
            <a:xfrm>
              <a:off x="0" y="-123825"/>
              <a:ext cx="1218726" cy="2833158"/>
            </a:xfrm>
            <a:prstGeom prst="rect">
              <a:avLst/>
            </a:prstGeom>
          </p:spPr>
          <p:txBody>
            <a:bodyPr anchor="ctr" rtlCol="false" tIns="50800" lIns="50800" bIns="50800" rIns="50800"/>
            <a:lstStyle/>
            <a:p>
              <a:pPr algn="ctr">
                <a:lnSpc>
                  <a:spcPts val="4079"/>
                </a:lnSpc>
              </a:pPr>
            </a:p>
          </p:txBody>
        </p:sp>
      </p:grpSp>
      <p:grpSp>
        <p:nvGrpSpPr>
          <p:cNvPr name="Group 5" id="5"/>
          <p:cNvGrpSpPr/>
          <p:nvPr/>
        </p:nvGrpSpPr>
        <p:grpSpPr>
          <a:xfrm rot="0">
            <a:off x="10951535" y="1295952"/>
            <a:ext cx="5911323" cy="3662725"/>
            <a:chOff x="0" y="0"/>
            <a:chExt cx="1556892" cy="964668"/>
          </a:xfrm>
        </p:grpSpPr>
        <p:sp>
          <p:nvSpPr>
            <p:cNvPr name="Freeform 6" id="6"/>
            <p:cNvSpPr/>
            <p:nvPr/>
          </p:nvSpPr>
          <p:spPr>
            <a:xfrm flipH="false" flipV="false" rot="0">
              <a:off x="0" y="0"/>
              <a:ext cx="1556892" cy="964668"/>
            </a:xfrm>
            <a:custGeom>
              <a:avLst/>
              <a:gdLst/>
              <a:ahLst/>
              <a:cxnLst/>
              <a:rect r="r" b="b" t="t" l="l"/>
              <a:pathLst>
                <a:path h="964668" w="1556892">
                  <a:moveTo>
                    <a:pt x="66794" y="0"/>
                  </a:moveTo>
                  <a:lnTo>
                    <a:pt x="1490098" y="0"/>
                  </a:lnTo>
                  <a:cubicBezTo>
                    <a:pt x="1526987" y="0"/>
                    <a:pt x="1556892" y="29904"/>
                    <a:pt x="1556892" y="66794"/>
                  </a:cubicBezTo>
                  <a:lnTo>
                    <a:pt x="1556892" y="897875"/>
                  </a:lnTo>
                  <a:cubicBezTo>
                    <a:pt x="1556892" y="934764"/>
                    <a:pt x="1526987" y="964668"/>
                    <a:pt x="1490098" y="964668"/>
                  </a:cubicBezTo>
                  <a:lnTo>
                    <a:pt x="66794" y="964668"/>
                  </a:lnTo>
                  <a:cubicBezTo>
                    <a:pt x="29904" y="964668"/>
                    <a:pt x="0" y="934764"/>
                    <a:pt x="0" y="897875"/>
                  </a:cubicBezTo>
                  <a:lnTo>
                    <a:pt x="0" y="66794"/>
                  </a:lnTo>
                  <a:cubicBezTo>
                    <a:pt x="0" y="29904"/>
                    <a:pt x="29904" y="0"/>
                    <a:pt x="66794" y="0"/>
                  </a:cubicBezTo>
                  <a:close/>
                </a:path>
              </a:pathLst>
            </a:custGeom>
            <a:solidFill>
              <a:srgbClr val="DBE5EA"/>
            </a:solidFill>
          </p:spPr>
        </p:sp>
        <p:sp>
          <p:nvSpPr>
            <p:cNvPr name="TextBox 7" id="7"/>
            <p:cNvSpPr txBox="true"/>
            <p:nvPr/>
          </p:nvSpPr>
          <p:spPr>
            <a:xfrm>
              <a:off x="0" y="-123825"/>
              <a:ext cx="1556892" cy="1088493"/>
            </a:xfrm>
            <a:prstGeom prst="rect">
              <a:avLst/>
            </a:prstGeom>
          </p:spPr>
          <p:txBody>
            <a:bodyPr anchor="ctr" rtlCol="false" tIns="50800" lIns="50800" bIns="50800" rIns="50800"/>
            <a:lstStyle/>
            <a:p>
              <a:pPr algn="ctr">
                <a:lnSpc>
                  <a:spcPts val="4079"/>
                </a:lnSpc>
              </a:pPr>
            </a:p>
          </p:txBody>
        </p:sp>
      </p:grpSp>
      <p:sp>
        <p:nvSpPr>
          <p:cNvPr name="TextBox 8" id="8"/>
          <p:cNvSpPr txBox="true"/>
          <p:nvPr/>
        </p:nvSpPr>
        <p:spPr>
          <a:xfrm rot="0">
            <a:off x="1028700" y="6613606"/>
            <a:ext cx="10527757" cy="15144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Captures sequential dependencies in time-series data.</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Model architecture: Two LSTM layers + Dense layers.</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Strength: Effective for volatile and sequential data.</a:t>
            </a:r>
          </a:p>
        </p:txBody>
      </p:sp>
      <p:sp>
        <p:nvSpPr>
          <p:cNvPr name="TextBox 9" id="9"/>
          <p:cNvSpPr txBox="true"/>
          <p:nvPr/>
        </p:nvSpPr>
        <p:spPr>
          <a:xfrm rot="0">
            <a:off x="1028700" y="6021913"/>
            <a:ext cx="10527757" cy="565150"/>
          </a:xfrm>
          <a:prstGeom prst="rect">
            <a:avLst/>
          </a:prstGeom>
        </p:spPr>
        <p:txBody>
          <a:bodyPr anchor="t" rtlCol="false" tIns="0" lIns="0" bIns="0" rIns="0">
            <a:spAutoFit/>
          </a:bodyPr>
          <a:lstStyle/>
          <a:p>
            <a:pPr algn="l" marL="0" indent="0" lvl="0">
              <a:lnSpc>
                <a:spcPts val="4759"/>
              </a:lnSpc>
            </a:pPr>
            <a:r>
              <a:rPr lang="en-US" b="true" sz="2799">
                <a:solidFill>
                  <a:srgbClr val="0F4662"/>
                </a:solidFill>
                <a:latin typeface="Quicksand Bold"/>
                <a:ea typeface="Quicksand Bold"/>
                <a:cs typeface="Quicksand Bold"/>
                <a:sym typeface="Quicksand Bold"/>
              </a:rPr>
              <a:t>LSTM (Long Short-Term Memory):</a:t>
            </a:r>
          </a:p>
        </p:txBody>
      </p:sp>
      <p:grpSp>
        <p:nvGrpSpPr>
          <p:cNvPr name="Group 10" id="10"/>
          <p:cNvGrpSpPr/>
          <p:nvPr/>
        </p:nvGrpSpPr>
        <p:grpSpPr>
          <a:xfrm rot="0">
            <a:off x="10951535" y="5398963"/>
            <a:ext cx="5911323" cy="3647536"/>
            <a:chOff x="0" y="0"/>
            <a:chExt cx="1556892" cy="960668"/>
          </a:xfrm>
        </p:grpSpPr>
        <p:sp>
          <p:nvSpPr>
            <p:cNvPr name="Freeform 11" id="11"/>
            <p:cNvSpPr/>
            <p:nvPr/>
          </p:nvSpPr>
          <p:spPr>
            <a:xfrm flipH="false" flipV="false" rot="0">
              <a:off x="0" y="0"/>
              <a:ext cx="1556892" cy="960668"/>
            </a:xfrm>
            <a:custGeom>
              <a:avLst/>
              <a:gdLst/>
              <a:ahLst/>
              <a:cxnLst/>
              <a:rect r="r" b="b" t="t" l="l"/>
              <a:pathLst>
                <a:path h="960668" w="1556892">
                  <a:moveTo>
                    <a:pt x="66794" y="0"/>
                  </a:moveTo>
                  <a:lnTo>
                    <a:pt x="1490098" y="0"/>
                  </a:lnTo>
                  <a:cubicBezTo>
                    <a:pt x="1526987" y="0"/>
                    <a:pt x="1556892" y="29904"/>
                    <a:pt x="1556892" y="66794"/>
                  </a:cubicBezTo>
                  <a:lnTo>
                    <a:pt x="1556892" y="893874"/>
                  </a:lnTo>
                  <a:cubicBezTo>
                    <a:pt x="1556892" y="930763"/>
                    <a:pt x="1526987" y="960668"/>
                    <a:pt x="1490098" y="960668"/>
                  </a:cubicBezTo>
                  <a:lnTo>
                    <a:pt x="66794" y="960668"/>
                  </a:lnTo>
                  <a:cubicBezTo>
                    <a:pt x="29904" y="960668"/>
                    <a:pt x="0" y="930763"/>
                    <a:pt x="0" y="893874"/>
                  </a:cubicBezTo>
                  <a:lnTo>
                    <a:pt x="0" y="66794"/>
                  </a:lnTo>
                  <a:cubicBezTo>
                    <a:pt x="0" y="29904"/>
                    <a:pt x="29904" y="0"/>
                    <a:pt x="66794" y="0"/>
                  </a:cubicBezTo>
                  <a:close/>
                </a:path>
              </a:pathLst>
            </a:custGeom>
            <a:solidFill>
              <a:srgbClr val="DBE5EA"/>
            </a:solidFill>
          </p:spPr>
        </p:sp>
        <p:sp>
          <p:nvSpPr>
            <p:cNvPr name="TextBox 12" id="12"/>
            <p:cNvSpPr txBox="true"/>
            <p:nvPr/>
          </p:nvSpPr>
          <p:spPr>
            <a:xfrm>
              <a:off x="0" y="-123825"/>
              <a:ext cx="1556892" cy="1084493"/>
            </a:xfrm>
            <a:prstGeom prst="rect">
              <a:avLst/>
            </a:prstGeom>
          </p:spPr>
          <p:txBody>
            <a:bodyPr anchor="ctr" rtlCol="false" tIns="50800" lIns="50800" bIns="50800" rIns="50800"/>
            <a:lstStyle/>
            <a:p>
              <a:pPr algn="ctr">
                <a:lnSpc>
                  <a:spcPts val="4079"/>
                </a:lnSpc>
              </a:pPr>
            </a:p>
          </p:txBody>
        </p:sp>
      </p:grpSp>
      <p:sp>
        <p:nvSpPr>
          <p:cNvPr name="Freeform 13" id="13"/>
          <p:cNvSpPr/>
          <p:nvPr/>
        </p:nvSpPr>
        <p:spPr>
          <a:xfrm flipH="false" flipV="false" rot="0">
            <a:off x="11326238" y="5828040"/>
            <a:ext cx="5161917" cy="2789383"/>
          </a:xfrm>
          <a:custGeom>
            <a:avLst/>
            <a:gdLst/>
            <a:ahLst/>
            <a:cxnLst/>
            <a:rect r="r" b="b" t="t" l="l"/>
            <a:pathLst>
              <a:path h="2789383" w="5161917">
                <a:moveTo>
                  <a:pt x="0" y="0"/>
                </a:moveTo>
                <a:lnTo>
                  <a:pt x="5161916" y="0"/>
                </a:lnTo>
                <a:lnTo>
                  <a:pt x="5161916" y="2789383"/>
                </a:lnTo>
                <a:lnTo>
                  <a:pt x="0" y="2789383"/>
                </a:lnTo>
                <a:lnTo>
                  <a:pt x="0" y="0"/>
                </a:lnTo>
                <a:close/>
              </a:path>
            </a:pathLst>
          </a:custGeom>
          <a:blipFill>
            <a:blip r:embed="rId3"/>
            <a:stretch>
              <a:fillRect l="-34" t="0" r="-34" b="0"/>
            </a:stretch>
          </a:blipFill>
        </p:spPr>
      </p:sp>
      <p:sp>
        <p:nvSpPr>
          <p:cNvPr name="Freeform 14" id="14"/>
          <p:cNvSpPr/>
          <p:nvPr/>
        </p:nvSpPr>
        <p:spPr>
          <a:xfrm flipH="false" flipV="false" rot="0">
            <a:off x="11333717" y="1684924"/>
            <a:ext cx="5154438" cy="2785341"/>
          </a:xfrm>
          <a:custGeom>
            <a:avLst/>
            <a:gdLst/>
            <a:ahLst/>
            <a:cxnLst/>
            <a:rect r="r" b="b" t="t" l="l"/>
            <a:pathLst>
              <a:path h="2785341" w="5154438">
                <a:moveTo>
                  <a:pt x="0" y="0"/>
                </a:moveTo>
                <a:lnTo>
                  <a:pt x="5154437" y="0"/>
                </a:lnTo>
                <a:lnTo>
                  <a:pt x="5154437" y="2785342"/>
                </a:lnTo>
                <a:lnTo>
                  <a:pt x="0" y="2785342"/>
                </a:lnTo>
                <a:lnTo>
                  <a:pt x="0" y="0"/>
                </a:lnTo>
                <a:close/>
              </a:path>
            </a:pathLst>
          </a:custGeom>
          <a:blipFill>
            <a:blip r:embed="rId4"/>
            <a:stretch>
              <a:fillRect l="0" t="0" r="0" b="0"/>
            </a:stretch>
          </a:blipFill>
        </p:spPr>
      </p:sp>
      <p:sp>
        <p:nvSpPr>
          <p:cNvPr name="TextBox 15" id="15"/>
          <p:cNvSpPr txBox="true"/>
          <p:nvPr/>
        </p:nvSpPr>
        <p:spPr>
          <a:xfrm rot="0">
            <a:off x="1028700" y="599709"/>
            <a:ext cx="57028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Prediction Models</a:t>
            </a:r>
          </a:p>
        </p:txBody>
      </p:sp>
      <p:sp>
        <p:nvSpPr>
          <p:cNvPr name="TextBox 16" id="16"/>
          <p:cNvSpPr txBox="true"/>
          <p:nvPr/>
        </p:nvSpPr>
        <p:spPr>
          <a:xfrm rot="0">
            <a:off x="1028700" y="3033868"/>
            <a:ext cx="10527757" cy="15144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Ensemble learning to handle non-linear patterns.</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Strength: Handles noise and outliers well.</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Weakness: Limited for sequential dependencies.</a:t>
            </a:r>
          </a:p>
        </p:txBody>
      </p:sp>
      <p:sp>
        <p:nvSpPr>
          <p:cNvPr name="TextBox 17" id="17"/>
          <p:cNvSpPr txBox="true"/>
          <p:nvPr/>
        </p:nvSpPr>
        <p:spPr>
          <a:xfrm rot="0">
            <a:off x="1028700" y="2514438"/>
            <a:ext cx="1052775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Random Forest Regressor:</a:t>
            </a:r>
          </a:p>
        </p:txBody>
      </p:sp>
      <p:sp>
        <p:nvSpPr>
          <p:cNvPr name="TextBox 18" id="18"/>
          <p:cNvSpPr txBox="true"/>
          <p:nvPr/>
        </p:nvSpPr>
        <p:spPr>
          <a:xfrm rot="0">
            <a:off x="12303956" y="4443568"/>
            <a:ext cx="3206481" cy="406399"/>
          </a:xfrm>
          <a:prstGeom prst="rect">
            <a:avLst/>
          </a:prstGeom>
        </p:spPr>
        <p:txBody>
          <a:bodyPr anchor="t" rtlCol="false" tIns="0" lIns="0" bIns="0" rIns="0">
            <a:spAutoFit/>
          </a:bodyPr>
          <a:lstStyle/>
          <a:p>
            <a:pPr algn="l">
              <a:lnSpc>
                <a:spcPts val="3400"/>
              </a:lnSpc>
            </a:pPr>
            <a:r>
              <a:rPr lang="en-US" sz="2000">
                <a:solidFill>
                  <a:srgbClr val="0F4662"/>
                </a:solidFill>
                <a:latin typeface="Quicksand"/>
                <a:ea typeface="Quicksand"/>
                <a:cs typeface="Quicksand"/>
                <a:sym typeface="Quicksand"/>
              </a:rPr>
              <a:t>Random Forest Prediction</a:t>
            </a:r>
          </a:p>
        </p:txBody>
      </p:sp>
      <p:sp>
        <p:nvSpPr>
          <p:cNvPr name="TextBox 19" id="19"/>
          <p:cNvSpPr txBox="true"/>
          <p:nvPr/>
        </p:nvSpPr>
        <p:spPr>
          <a:xfrm rot="0">
            <a:off x="12303956" y="8533550"/>
            <a:ext cx="3206481" cy="406399"/>
          </a:xfrm>
          <a:prstGeom prst="rect">
            <a:avLst/>
          </a:prstGeom>
        </p:spPr>
        <p:txBody>
          <a:bodyPr anchor="t" rtlCol="false" tIns="0" lIns="0" bIns="0" rIns="0">
            <a:spAutoFit/>
          </a:bodyPr>
          <a:lstStyle/>
          <a:p>
            <a:pPr algn="ctr">
              <a:lnSpc>
                <a:spcPts val="3400"/>
              </a:lnSpc>
            </a:pPr>
            <a:r>
              <a:rPr lang="en-US" sz="2000">
                <a:solidFill>
                  <a:srgbClr val="0F4662"/>
                </a:solidFill>
                <a:latin typeface="Quicksand"/>
                <a:ea typeface="Quicksand"/>
                <a:cs typeface="Quicksand"/>
                <a:sym typeface="Quicksand"/>
              </a:rPr>
              <a:t>LSTM Prediction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BE5EA"/>
        </a:solidFill>
      </p:bgPr>
    </p:bg>
    <p:spTree>
      <p:nvGrpSpPr>
        <p:cNvPr id="1" name=""/>
        <p:cNvGrpSpPr/>
        <p:nvPr/>
      </p:nvGrpSpPr>
      <p:grpSpPr>
        <a:xfrm>
          <a:off x="0" y="0"/>
          <a:ext cx="0" cy="0"/>
          <a:chOff x="0" y="0"/>
          <a:chExt cx="0" cy="0"/>
        </a:xfrm>
      </p:grpSpPr>
      <p:grpSp>
        <p:nvGrpSpPr>
          <p:cNvPr name="Group 2" id="2"/>
          <p:cNvGrpSpPr/>
          <p:nvPr/>
        </p:nvGrpSpPr>
        <p:grpSpPr>
          <a:xfrm rot="0">
            <a:off x="1028700" y="3669551"/>
            <a:ext cx="7514133" cy="6330250"/>
            <a:chOff x="0" y="0"/>
            <a:chExt cx="1979031" cy="1667226"/>
          </a:xfrm>
        </p:grpSpPr>
        <p:sp>
          <p:nvSpPr>
            <p:cNvPr name="Freeform 3" id="3"/>
            <p:cNvSpPr/>
            <p:nvPr/>
          </p:nvSpPr>
          <p:spPr>
            <a:xfrm flipH="false" flipV="false" rot="0">
              <a:off x="0" y="0"/>
              <a:ext cx="1979031" cy="1667227"/>
            </a:xfrm>
            <a:custGeom>
              <a:avLst/>
              <a:gdLst/>
              <a:ahLst/>
              <a:cxnLst/>
              <a:rect r="r" b="b" t="t" l="l"/>
              <a:pathLst>
                <a:path h="1667227" w="1979031">
                  <a:moveTo>
                    <a:pt x="52546" y="0"/>
                  </a:moveTo>
                  <a:lnTo>
                    <a:pt x="1926485" y="0"/>
                  </a:lnTo>
                  <a:cubicBezTo>
                    <a:pt x="1955505" y="0"/>
                    <a:pt x="1979031" y="23526"/>
                    <a:pt x="1979031" y="52546"/>
                  </a:cubicBezTo>
                  <a:lnTo>
                    <a:pt x="1979031" y="1614681"/>
                  </a:lnTo>
                  <a:cubicBezTo>
                    <a:pt x="1979031" y="1628617"/>
                    <a:pt x="1973495" y="1641982"/>
                    <a:pt x="1963641" y="1651836"/>
                  </a:cubicBezTo>
                  <a:cubicBezTo>
                    <a:pt x="1953786" y="1661690"/>
                    <a:pt x="1940421" y="1667227"/>
                    <a:pt x="1926485" y="1667227"/>
                  </a:cubicBezTo>
                  <a:lnTo>
                    <a:pt x="52546" y="1667227"/>
                  </a:lnTo>
                  <a:cubicBezTo>
                    <a:pt x="38610" y="1667227"/>
                    <a:pt x="25245" y="1661690"/>
                    <a:pt x="15390" y="1651836"/>
                  </a:cubicBezTo>
                  <a:cubicBezTo>
                    <a:pt x="5536" y="1641982"/>
                    <a:pt x="0" y="1628617"/>
                    <a:pt x="0" y="1614681"/>
                  </a:cubicBezTo>
                  <a:lnTo>
                    <a:pt x="0" y="52546"/>
                  </a:lnTo>
                  <a:cubicBezTo>
                    <a:pt x="0" y="23526"/>
                    <a:pt x="23526" y="0"/>
                    <a:pt x="52546" y="0"/>
                  </a:cubicBezTo>
                  <a:close/>
                </a:path>
              </a:pathLst>
            </a:custGeom>
            <a:solidFill>
              <a:srgbClr val="FFFFFF"/>
            </a:solidFill>
          </p:spPr>
        </p:sp>
        <p:sp>
          <p:nvSpPr>
            <p:cNvPr name="TextBox 4" id="4"/>
            <p:cNvSpPr txBox="true"/>
            <p:nvPr/>
          </p:nvSpPr>
          <p:spPr>
            <a:xfrm>
              <a:off x="0" y="-123825"/>
              <a:ext cx="1979031" cy="1791051"/>
            </a:xfrm>
            <a:prstGeom prst="rect">
              <a:avLst/>
            </a:prstGeom>
          </p:spPr>
          <p:txBody>
            <a:bodyPr anchor="ctr" rtlCol="false" tIns="50800" lIns="50800" bIns="50800" rIns="50800"/>
            <a:lstStyle/>
            <a:p>
              <a:pPr algn="ctr">
                <a:lnSpc>
                  <a:spcPts val="4079"/>
                </a:lnSpc>
              </a:pPr>
            </a:p>
          </p:txBody>
        </p:sp>
      </p:grpSp>
      <p:grpSp>
        <p:nvGrpSpPr>
          <p:cNvPr name="Group 5" id="5"/>
          <p:cNvGrpSpPr/>
          <p:nvPr/>
        </p:nvGrpSpPr>
        <p:grpSpPr>
          <a:xfrm rot="0">
            <a:off x="9745167" y="3669551"/>
            <a:ext cx="7514133" cy="6260364"/>
            <a:chOff x="0" y="0"/>
            <a:chExt cx="1979031" cy="1648820"/>
          </a:xfrm>
        </p:grpSpPr>
        <p:sp>
          <p:nvSpPr>
            <p:cNvPr name="Freeform 6" id="6"/>
            <p:cNvSpPr/>
            <p:nvPr/>
          </p:nvSpPr>
          <p:spPr>
            <a:xfrm flipH="false" flipV="false" rot="0">
              <a:off x="0" y="0"/>
              <a:ext cx="1979031" cy="1648820"/>
            </a:xfrm>
            <a:custGeom>
              <a:avLst/>
              <a:gdLst/>
              <a:ahLst/>
              <a:cxnLst/>
              <a:rect r="r" b="b" t="t" l="l"/>
              <a:pathLst>
                <a:path h="1648820" w="1979031">
                  <a:moveTo>
                    <a:pt x="52546" y="0"/>
                  </a:moveTo>
                  <a:lnTo>
                    <a:pt x="1926485" y="0"/>
                  </a:lnTo>
                  <a:cubicBezTo>
                    <a:pt x="1955505" y="0"/>
                    <a:pt x="1979031" y="23526"/>
                    <a:pt x="1979031" y="52546"/>
                  </a:cubicBezTo>
                  <a:lnTo>
                    <a:pt x="1979031" y="1596274"/>
                  </a:lnTo>
                  <a:cubicBezTo>
                    <a:pt x="1979031" y="1610210"/>
                    <a:pt x="1973495" y="1623575"/>
                    <a:pt x="1963641" y="1633430"/>
                  </a:cubicBezTo>
                  <a:cubicBezTo>
                    <a:pt x="1953786" y="1643284"/>
                    <a:pt x="1940421" y="1648820"/>
                    <a:pt x="1926485" y="1648820"/>
                  </a:cubicBezTo>
                  <a:lnTo>
                    <a:pt x="52546" y="1648820"/>
                  </a:lnTo>
                  <a:cubicBezTo>
                    <a:pt x="38610" y="1648820"/>
                    <a:pt x="25245" y="1643284"/>
                    <a:pt x="15390" y="1633430"/>
                  </a:cubicBezTo>
                  <a:cubicBezTo>
                    <a:pt x="5536" y="1623575"/>
                    <a:pt x="0" y="1610210"/>
                    <a:pt x="0" y="1596274"/>
                  </a:cubicBezTo>
                  <a:lnTo>
                    <a:pt x="0" y="52546"/>
                  </a:lnTo>
                  <a:cubicBezTo>
                    <a:pt x="0" y="23526"/>
                    <a:pt x="23526" y="0"/>
                    <a:pt x="52546" y="0"/>
                  </a:cubicBezTo>
                  <a:close/>
                </a:path>
              </a:pathLst>
            </a:custGeom>
            <a:solidFill>
              <a:srgbClr val="FFFFFF"/>
            </a:solidFill>
          </p:spPr>
        </p:sp>
        <p:sp>
          <p:nvSpPr>
            <p:cNvPr name="TextBox 7" id="7"/>
            <p:cNvSpPr txBox="true"/>
            <p:nvPr/>
          </p:nvSpPr>
          <p:spPr>
            <a:xfrm>
              <a:off x="0" y="-123825"/>
              <a:ext cx="1979031" cy="1772645"/>
            </a:xfrm>
            <a:prstGeom prst="rect">
              <a:avLst/>
            </a:prstGeom>
          </p:spPr>
          <p:txBody>
            <a:bodyPr anchor="ctr" rtlCol="false" tIns="50800" lIns="50800" bIns="50800" rIns="50800"/>
            <a:lstStyle/>
            <a:p>
              <a:pPr algn="ctr">
                <a:lnSpc>
                  <a:spcPts val="4079"/>
                </a:lnSpc>
              </a:pPr>
            </a:p>
          </p:txBody>
        </p:sp>
      </p:grpSp>
      <p:pic>
        <p:nvPicPr>
          <p:cNvPr name="Picture 8" id="8"/>
          <p:cNvPicPr>
            <a:picLocks noChangeAspect="true"/>
          </p:cNvPicPr>
          <p:nvPr/>
        </p:nvPicPr>
        <p:blipFill>
          <a:blip r:embed="rId3"/>
          <a:stretch>
            <a:fillRect/>
          </a:stretch>
        </p:blipFill>
        <p:spPr>
          <a:xfrm rot="0">
            <a:off x="9831712" y="3549898"/>
            <a:ext cx="7341042" cy="6130563"/>
          </a:xfrm>
          <a:prstGeom prst="rect">
            <a:avLst/>
          </a:prstGeom>
        </p:spPr>
      </p:pic>
      <p:sp>
        <p:nvSpPr>
          <p:cNvPr name="Freeform 9" id="9"/>
          <p:cNvSpPr/>
          <p:nvPr/>
        </p:nvSpPr>
        <p:spPr>
          <a:xfrm flipH="false" flipV="false" rot="0">
            <a:off x="2621839" y="4218607"/>
            <a:ext cx="4327855" cy="5162251"/>
          </a:xfrm>
          <a:custGeom>
            <a:avLst/>
            <a:gdLst/>
            <a:ahLst/>
            <a:cxnLst/>
            <a:rect r="r" b="b" t="t" l="l"/>
            <a:pathLst>
              <a:path h="5162251" w="4327855">
                <a:moveTo>
                  <a:pt x="0" y="0"/>
                </a:moveTo>
                <a:lnTo>
                  <a:pt x="4327855" y="0"/>
                </a:lnTo>
                <a:lnTo>
                  <a:pt x="4327855" y="5162251"/>
                </a:lnTo>
                <a:lnTo>
                  <a:pt x="0" y="5162251"/>
                </a:lnTo>
                <a:lnTo>
                  <a:pt x="0" y="0"/>
                </a:lnTo>
                <a:close/>
              </a:path>
            </a:pathLst>
          </a:custGeom>
          <a:blipFill>
            <a:blip r:embed="rId4"/>
            <a:stretch>
              <a:fillRect l="0" t="0" r="0" b="0"/>
            </a:stretch>
          </a:blipFill>
        </p:spPr>
      </p:sp>
      <p:sp>
        <p:nvSpPr>
          <p:cNvPr name="TextBox 10" id="10"/>
          <p:cNvSpPr txBox="true"/>
          <p:nvPr/>
        </p:nvSpPr>
        <p:spPr>
          <a:xfrm rot="0">
            <a:off x="1028700" y="599709"/>
            <a:ext cx="1032659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Model Training and Evaluation</a:t>
            </a:r>
          </a:p>
        </p:txBody>
      </p:sp>
      <p:sp>
        <p:nvSpPr>
          <p:cNvPr name="TextBox 11" id="11"/>
          <p:cNvSpPr txBox="true"/>
          <p:nvPr/>
        </p:nvSpPr>
        <p:spPr>
          <a:xfrm rot="0">
            <a:off x="1028700" y="1934897"/>
            <a:ext cx="16230600" cy="1514475"/>
          </a:xfrm>
          <a:prstGeom prst="rect">
            <a:avLst/>
          </a:prstGeom>
        </p:spPr>
        <p:txBody>
          <a:bodyPr anchor="t" rtlCol="false" tIns="0" lIns="0" bIns="0" rIns="0">
            <a:spAutoFit/>
          </a:bodyPr>
          <a:lstStyle/>
          <a:p>
            <a:pPr algn="l" marL="0" indent="0" lvl="0">
              <a:lnSpc>
                <a:spcPts val="4079"/>
              </a:lnSpc>
            </a:pPr>
            <a:r>
              <a:rPr lang="en-US" sz="2400">
                <a:solidFill>
                  <a:srgbClr val="0F4662"/>
                </a:solidFill>
                <a:latin typeface="Quicksand"/>
                <a:ea typeface="Quicksand"/>
                <a:cs typeface="Quicksand"/>
                <a:sym typeface="Quicksand"/>
              </a:rPr>
              <a:t>The dataset was split into an 80% training set and a 20% testing set. Metrics like Mean Absolute Error (MAE), Mean Squared Error (MSE), and Root Mean Squared Error (RMSE) were used to evaluate the models. These metrics quantify the prediction error in both relative and absolute terms. </a:t>
            </a:r>
          </a:p>
        </p:txBody>
      </p:sp>
      <p:sp>
        <p:nvSpPr>
          <p:cNvPr name="TextBox 12" id="12"/>
          <p:cNvSpPr txBox="true"/>
          <p:nvPr/>
        </p:nvSpPr>
        <p:spPr>
          <a:xfrm rot="0">
            <a:off x="12168986" y="9134475"/>
            <a:ext cx="2666494" cy="485775"/>
          </a:xfrm>
          <a:prstGeom prst="rect">
            <a:avLst/>
          </a:prstGeom>
        </p:spPr>
        <p:txBody>
          <a:bodyPr anchor="t" rtlCol="false" tIns="0" lIns="0" bIns="0" rIns="0">
            <a:spAutoFit/>
          </a:bodyPr>
          <a:lstStyle/>
          <a:p>
            <a:pPr algn="ctr" marL="0" indent="0" lvl="0">
              <a:lnSpc>
                <a:spcPts val="4079"/>
              </a:lnSpc>
            </a:pPr>
            <a:r>
              <a:rPr lang="en-US" sz="2400">
                <a:solidFill>
                  <a:srgbClr val="0F4662"/>
                </a:solidFill>
                <a:latin typeface="Quicksand"/>
                <a:ea typeface="Quicksand"/>
                <a:cs typeface="Quicksand"/>
                <a:sym typeface="Quicksand"/>
              </a:rPr>
              <a:t>Metrics</a:t>
            </a:r>
          </a:p>
        </p:txBody>
      </p:sp>
      <p:sp>
        <p:nvSpPr>
          <p:cNvPr name="TextBox 13" id="13"/>
          <p:cNvSpPr txBox="true"/>
          <p:nvPr/>
        </p:nvSpPr>
        <p:spPr>
          <a:xfrm rot="-5400000">
            <a:off x="8452092" y="6372292"/>
            <a:ext cx="3268395" cy="485775"/>
          </a:xfrm>
          <a:prstGeom prst="rect">
            <a:avLst/>
          </a:prstGeom>
        </p:spPr>
        <p:txBody>
          <a:bodyPr anchor="t" rtlCol="false" tIns="0" lIns="0" bIns="0" rIns="0">
            <a:spAutoFit/>
          </a:bodyPr>
          <a:lstStyle/>
          <a:p>
            <a:pPr algn="ctr" marL="0" indent="0" lvl="0">
              <a:lnSpc>
                <a:spcPts val="4079"/>
              </a:lnSpc>
            </a:pPr>
            <a:r>
              <a:rPr lang="en-US" sz="2400">
                <a:solidFill>
                  <a:srgbClr val="0F4662"/>
                </a:solidFill>
                <a:latin typeface="Quicksand"/>
                <a:ea typeface="Quicksand"/>
                <a:cs typeface="Quicksand"/>
                <a:sym typeface="Quicksand"/>
              </a:rPr>
              <a:t>Loss Valeus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0509449" y="0"/>
            <a:ext cx="7778551" cy="10287000"/>
            <a:chOff x="0" y="0"/>
            <a:chExt cx="2048672" cy="2709333"/>
          </a:xfrm>
        </p:grpSpPr>
        <p:sp>
          <p:nvSpPr>
            <p:cNvPr name="Freeform 3" id="3"/>
            <p:cNvSpPr/>
            <p:nvPr/>
          </p:nvSpPr>
          <p:spPr>
            <a:xfrm flipH="false" flipV="false" rot="0">
              <a:off x="0" y="0"/>
              <a:ext cx="2048672" cy="2709333"/>
            </a:xfrm>
            <a:custGeom>
              <a:avLst/>
              <a:gdLst/>
              <a:ahLst/>
              <a:cxnLst/>
              <a:rect r="r" b="b" t="t" l="l"/>
              <a:pathLst>
                <a:path h="2709333" w="2048672">
                  <a:moveTo>
                    <a:pt x="0" y="0"/>
                  </a:moveTo>
                  <a:lnTo>
                    <a:pt x="2048672" y="0"/>
                  </a:lnTo>
                  <a:lnTo>
                    <a:pt x="2048672" y="2709333"/>
                  </a:lnTo>
                  <a:lnTo>
                    <a:pt x="0" y="2709333"/>
                  </a:lnTo>
                  <a:close/>
                </a:path>
              </a:pathLst>
            </a:custGeom>
            <a:solidFill>
              <a:srgbClr val="DBE5EA"/>
            </a:solidFill>
          </p:spPr>
        </p:sp>
        <p:sp>
          <p:nvSpPr>
            <p:cNvPr name="TextBox 4" id="4"/>
            <p:cNvSpPr txBox="true"/>
            <p:nvPr/>
          </p:nvSpPr>
          <p:spPr>
            <a:xfrm>
              <a:off x="0" y="-123825"/>
              <a:ext cx="204867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a:off x="551479" y="9741523"/>
            <a:ext cx="9315422" cy="0"/>
          </a:xfrm>
          <a:prstGeom prst="line">
            <a:avLst/>
          </a:prstGeom>
          <a:ln cap="flat" w="76200">
            <a:solidFill>
              <a:srgbClr val="0F4662"/>
            </a:solidFill>
            <a:prstDash val="solid"/>
            <a:headEnd type="none" len="sm" w="sm"/>
            <a:tailEnd type="none" len="sm" w="sm"/>
          </a:ln>
        </p:spPr>
      </p:sp>
      <p:sp>
        <p:nvSpPr>
          <p:cNvPr name="AutoShape 6" id="6"/>
          <p:cNvSpPr/>
          <p:nvPr/>
        </p:nvSpPr>
        <p:spPr>
          <a:xfrm>
            <a:off x="10767060" y="1028700"/>
            <a:ext cx="6492240" cy="0"/>
          </a:xfrm>
          <a:prstGeom prst="line">
            <a:avLst/>
          </a:prstGeom>
          <a:ln cap="flat" w="76200">
            <a:solidFill>
              <a:srgbClr val="0F4662"/>
            </a:solidFill>
            <a:prstDash val="solid"/>
            <a:headEnd type="none" len="sm" w="sm"/>
            <a:tailEnd type="none" len="sm" w="sm"/>
          </a:ln>
        </p:spPr>
      </p:sp>
      <p:sp>
        <p:nvSpPr>
          <p:cNvPr name="Freeform 7" id="7"/>
          <p:cNvSpPr/>
          <p:nvPr/>
        </p:nvSpPr>
        <p:spPr>
          <a:xfrm flipH="false" flipV="false" rot="0">
            <a:off x="551479" y="2328278"/>
            <a:ext cx="9315422" cy="4965864"/>
          </a:xfrm>
          <a:custGeom>
            <a:avLst/>
            <a:gdLst/>
            <a:ahLst/>
            <a:cxnLst/>
            <a:rect r="r" b="b" t="t" l="l"/>
            <a:pathLst>
              <a:path h="4965864" w="9315422">
                <a:moveTo>
                  <a:pt x="0" y="0"/>
                </a:moveTo>
                <a:lnTo>
                  <a:pt x="9315422" y="0"/>
                </a:lnTo>
                <a:lnTo>
                  <a:pt x="9315422" y="4965864"/>
                </a:lnTo>
                <a:lnTo>
                  <a:pt x="0" y="4965864"/>
                </a:lnTo>
                <a:lnTo>
                  <a:pt x="0" y="0"/>
                </a:lnTo>
                <a:close/>
              </a:path>
            </a:pathLst>
          </a:custGeom>
          <a:blipFill>
            <a:blip r:embed="rId3"/>
            <a:stretch>
              <a:fillRect l="-33" t="0" r="-33" b="0"/>
            </a:stretch>
          </a:blipFill>
        </p:spPr>
      </p:sp>
      <p:sp>
        <p:nvSpPr>
          <p:cNvPr name="TextBox 8" id="8"/>
          <p:cNvSpPr txBox="true"/>
          <p:nvPr/>
        </p:nvSpPr>
        <p:spPr>
          <a:xfrm rot="0">
            <a:off x="1028700" y="428942"/>
            <a:ext cx="9480749"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Model Comparison</a:t>
            </a:r>
          </a:p>
        </p:txBody>
      </p:sp>
      <p:sp>
        <p:nvSpPr>
          <p:cNvPr name="TextBox 9" id="9"/>
          <p:cNvSpPr txBox="true"/>
          <p:nvPr/>
        </p:nvSpPr>
        <p:spPr>
          <a:xfrm rot="0">
            <a:off x="10767060" y="2126979"/>
            <a:ext cx="6492240" cy="1000125"/>
          </a:xfrm>
          <a:prstGeom prst="rect">
            <a:avLst/>
          </a:prstGeom>
        </p:spPr>
        <p:txBody>
          <a:bodyPr anchor="t" rtlCol="false" tIns="0" lIns="0" bIns="0" rIns="0">
            <a:spAutoFit/>
          </a:bodyPr>
          <a:lstStyle/>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Showing Actual vs. Predicted prices for Random Forest and LSTM</a:t>
            </a:r>
          </a:p>
        </p:txBody>
      </p:sp>
      <p:sp>
        <p:nvSpPr>
          <p:cNvPr name="TextBox 10" id="10"/>
          <p:cNvSpPr txBox="true"/>
          <p:nvPr/>
        </p:nvSpPr>
        <p:spPr>
          <a:xfrm rot="0">
            <a:off x="10767060" y="4687385"/>
            <a:ext cx="6492240" cy="1000125"/>
          </a:xfrm>
          <a:prstGeom prst="rect">
            <a:avLst/>
          </a:prstGeom>
        </p:spPr>
        <p:txBody>
          <a:bodyPr anchor="t" rtlCol="false" tIns="0" lIns="0" bIns="0" rIns="0">
            <a:spAutoFit/>
          </a:bodyPr>
          <a:lstStyle/>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LSTM’s superior performance in sequential dependencies</a:t>
            </a:r>
          </a:p>
        </p:txBody>
      </p:sp>
      <p:sp>
        <p:nvSpPr>
          <p:cNvPr name="TextBox 11" id="11"/>
          <p:cNvSpPr txBox="true"/>
          <p:nvPr/>
        </p:nvSpPr>
        <p:spPr>
          <a:xfrm rot="0">
            <a:off x="10767060" y="1561099"/>
            <a:ext cx="6492240" cy="518255"/>
          </a:xfrm>
          <a:prstGeom prst="rect">
            <a:avLst/>
          </a:prstGeom>
        </p:spPr>
        <p:txBody>
          <a:bodyPr anchor="t" rtlCol="false" tIns="0" lIns="0" bIns="0" rIns="0">
            <a:spAutoFit/>
          </a:bodyPr>
          <a:lstStyle/>
          <a:p>
            <a:pPr algn="l" marL="0" indent="0" lvl="0">
              <a:lnSpc>
                <a:spcPts val="4485"/>
              </a:lnSpc>
            </a:pPr>
            <a:r>
              <a:rPr lang="en-US" b="true" sz="2638">
                <a:solidFill>
                  <a:srgbClr val="0F4662"/>
                </a:solidFill>
                <a:latin typeface="Quicksand Bold"/>
                <a:ea typeface="Quicksand Bold"/>
                <a:cs typeface="Quicksand Bold"/>
                <a:sym typeface="Quicksand Bold"/>
              </a:rPr>
              <a:t>Graph:</a:t>
            </a:r>
          </a:p>
        </p:txBody>
      </p:sp>
      <p:sp>
        <p:nvSpPr>
          <p:cNvPr name="TextBox 12" id="12"/>
          <p:cNvSpPr txBox="true"/>
          <p:nvPr/>
        </p:nvSpPr>
        <p:spPr>
          <a:xfrm rot="0">
            <a:off x="10767060" y="4110083"/>
            <a:ext cx="6492240" cy="518255"/>
          </a:xfrm>
          <a:prstGeom prst="rect">
            <a:avLst/>
          </a:prstGeom>
        </p:spPr>
        <p:txBody>
          <a:bodyPr anchor="t" rtlCol="false" tIns="0" lIns="0" bIns="0" rIns="0">
            <a:spAutoFit/>
          </a:bodyPr>
          <a:lstStyle/>
          <a:p>
            <a:pPr algn="l" marL="0" indent="0" lvl="0">
              <a:lnSpc>
                <a:spcPts val="4485"/>
              </a:lnSpc>
            </a:pPr>
            <a:r>
              <a:rPr lang="en-US" b="true" sz="2638">
                <a:solidFill>
                  <a:srgbClr val="0F4662"/>
                </a:solidFill>
                <a:latin typeface="Quicksand Bold"/>
                <a:ea typeface="Quicksand Bold"/>
                <a:cs typeface="Quicksand Bold"/>
                <a:sym typeface="Quicksand Bold"/>
              </a:rPr>
              <a:t>Highlight:</a:t>
            </a:r>
          </a:p>
        </p:txBody>
      </p:sp>
      <p:sp>
        <p:nvSpPr>
          <p:cNvPr name="TextBox 13" id="13"/>
          <p:cNvSpPr txBox="true"/>
          <p:nvPr/>
        </p:nvSpPr>
        <p:spPr>
          <a:xfrm rot="0">
            <a:off x="10767060" y="5960642"/>
            <a:ext cx="6492240" cy="2543175"/>
          </a:xfrm>
          <a:prstGeom prst="rect">
            <a:avLst/>
          </a:prstGeom>
        </p:spPr>
        <p:txBody>
          <a:bodyPr anchor="t" rtlCol="false" tIns="0" lIns="0" bIns="0" rIns="0">
            <a:spAutoFit/>
          </a:bodyPr>
          <a:lstStyle/>
          <a:p>
            <a:pPr algn="just">
              <a:lnSpc>
                <a:spcPts val="4079"/>
              </a:lnSpc>
            </a:pPr>
            <a:r>
              <a:rPr lang="en-US" sz="2400">
                <a:solidFill>
                  <a:srgbClr val="0F4662"/>
                </a:solidFill>
                <a:latin typeface="Quicksand"/>
                <a:ea typeface="Quicksand"/>
                <a:cs typeface="Quicksand"/>
                <a:sym typeface="Quicksand"/>
              </a:rPr>
              <a:t>During training, LSTM networks displayed extraordinary effectiveness when compared to Random Forest in capturing the stock data's inherent sequence. Learning from historical price swings and trends. </a:t>
            </a:r>
          </a:p>
        </p:txBody>
      </p:sp>
      <p:sp>
        <p:nvSpPr>
          <p:cNvPr name="TextBox 14" id="14"/>
          <p:cNvSpPr txBox="true"/>
          <p:nvPr/>
        </p:nvSpPr>
        <p:spPr>
          <a:xfrm rot="0">
            <a:off x="10767060" y="8780042"/>
            <a:ext cx="6492240" cy="485775"/>
          </a:xfrm>
          <a:prstGeom prst="rect">
            <a:avLst/>
          </a:prstGeom>
        </p:spPr>
        <p:txBody>
          <a:bodyPr anchor="t" rtlCol="false" tIns="0" lIns="0" bIns="0" rIns="0">
            <a:spAutoFit/>
          </a:bodyPr>
          <a:lstStyle/>
          <a:p>
            <a:pPr algn="just">
              <a:lnSpc>
                <a:spcPts val="4079"/>
              </a:lnSpc>
            </a:pPr>
            <a:r>
              <a:rPr lang="en-US" b="true" sz="2400">
                <a:solidFill>
                  <a:srgbClr val="0F4662"/>
                </a:solidFill>
                <a:latin typeface="Quicksand Bold"/>
                <a:ea typeface="Quicksand Bold"/>
                <a:cs typeface="Quicksand Bold"/>
                <a:sym typeface="Quicksand Bold"/>
              </a:rPr>
              <a:t>So, selecting LSTM as the final model.</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BE5EA"/>
        </a:solidFill>
      </p:bgPr>
    </p:bg>
    <p:spTree>
      <p:nvGrpSpPr>
        <p:cNvPr id="1" name=""/>
        <p:cNvGrpSpPr/>
        <p:nvPr/>
      </p:nvGrpSpPr>
      <p:grpSpPr>
        <a:xfrm>
          <a:off x="0" y="0"/>
          <a:ext cx="0" cy="0"/>
          <a:chOff x="0" y="0"/>
          <a:chExt cx="0" cy="0"/>
        </a:xfrm>
      </p:grpSpPr>
      <p:grpSp>
        <p:nvGrpSpPr>
          <p:cNvPr name="Group 2" id="2"/>
          <p:cNvGrpSpPr/>
          <p:nvPr/>
        </p:nvGrpSpPr>
        <p:grpSpPr>
          <a:xfrm rot="0">
            <a:off x="456014" y="2945930"/>
            <a:ext cx="8657607" cy="5780704"/>
            <a:chOff x="0" y="0"/>
            <a:chExt cx="2280193" cy="1522490"/>
          </a:xfrm>
        </p:grpSpPr>
        <p:sp>
          <p:nvSpPr>
            <p:cNvPr name="Freeform 3" id="3"/>
            <p:cNvSpPr/>
            <p:nvPr/>
          </p:nvSpPr>
          <p:spPr>
            <a:xfrm flipH="false" flipV="false" rot="0">
              <a:off x="0" y="0"/>
              <a:ext cx="2280193" cy="1522490"/>
            </a:xfrm>
            <a:custGeom>
              <a:avLst/>
              <a:gdLst/>
              <a:ahLst/>
              <a:cxnLst/>
              <a:rect r="r" b="b" t="t" l="l"/>
              <a:pathLst>
                <a:path h="1522490" w="2280193">
                  <a:moveTo>
                    <a:pt x="45606" y="0"/>
                  </a:moveTo>
                  <a:lnTo>
                    <a:pt x="2234587" y="0"/>
                  </a:lnTo>
                  <a:cubicBezTo>
                    <a:pt x="2246682" y="0"/>
                    <a:pt x="2258282" y="4805"/>
                    <a:pt x="2266835" y="13358"/>
                  </a:cubicBezTo>
                  <a:cubicBezTo>
                    <a:pt x="2275388" y="21910"/>
                    <a:pt x="2280193" y="33510"/>
                    <a:pt x="2280193" y="45606"/>
                  </a:cubicBezTo>
                  <a:lnTo>
                    <a:pt x="2280193" y="1476884"/>
                  </a:lnTo>
                  <a:cubicBezTo>
                    <a:pt x="2280193" y="1488979"/>
                    <a:pt x="2275388" y="1500580"/>
                    <a:pt x="2266835" y="1509132"/>
                  </a:cubicBezTo>
                  <a:cubicBezTo>
                    <a:pt x="2258282" y="1517685"/>
                    <a:pt x="2246682" y="1522490"/>
                    <a:pt x="2234587" y="1522490"/>
                  </a:cubicBezTo>
                  <a:lnTo>
                    <a:pt x="45606" y="1522490"/>
                  </a:lnTo>
                  <a:cubicBezTo>
                    <a:pt x="20418" y="1522490"/>
                    <a:pt x="0" y="1502071"/>
                    <a:pt x="0" y="1476884"/>
                  </a:cubicBezTo>
                  <a:lnTo>
                    <a:pt x="0" y="45606"/>
                  </a:lnTo>
                  <a:cubicBezTo>
                    <a:pt x="0" y="20418"/>
                    <a:pt x="20418" y="0"/>
                    <a:pt x="45606" y="0"/>
                  </a:cubicBezTo>
                  <a:close/>
                </a:path>
              </a:pathLst>
            </a:custGeom>
            <a:solidFill>
              <a:srgbClr val="FFFFFF"/>
            </a:solidFill>
          </p:spPr>
        </p:sp>
        <p:sp>
          <p:nvSpPr>
            <p:cNvPr name="TextBox 4" id="4"/>
            <p:cNvSpPr txBox="true"/>
            <p:nvPr/>
          </p:nvSpPr>
          <p:spPr>
            <a:xfrm>
              <a:off x="0" y="-123825"/>
              <a:ext cx="2280193" cy="1646315"/>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998321" y="3660932"/>
            <a:ext cx="7652807" cy="4165259"/>
          </a:xfrm>
          <a:custGeom>
            <a:avLst/>
            <a:gdLst/>
            <a:ahLst/>
            <a:cxnLst/>
            <a:rect r="r" b="b" t="t" l="l"/>
            <a:pathLst>
              <a:path h="4165259" w="7652807">
                <a:moveTo>
                  <a:pt x="0" y="0"/>
                </a:moveTo>
                <a:lnTo>
                  <a:pt x="7652807" y="0"/>
                </a:lnTo>
                <a:lnTo>
                  <a:pt x="7652807" y="4165259"/>
                </a:lnTo>
                <a:lnTo>
                  <a:pt x="0" y="4165259"/>
                </a:lnTo>
                <a:lnTo>
                  <a:pt x="0" y="0"/>
                </a:lnTo>
                <a:close/>
              </a:path>
            </a:pathLst>
          </a:custGeom>
          <a:blipFill>
            <a:blip r:embed="rId2"/>
            <a:stretch>
              <a:fillRect l="-59" t="0" r="-59" b="0"/>
            </a:stretch>
          </a:blipFill>
        </p:spPr>
      </p:sp>
      <p:grpSp>
        <p:nvGrpSpPr>
          <p:cNvPr name="Group 6" id="6"/>
          <p:cNvGrpSpPr/>
          <p:nvPr/>
        </p:nvGrpSpPr>
        <p:grpSpPr>
          <a:xfrm rot="0">
            <a:off x="9387869" y="2945930"/>
            <a:ext cx="8657607" cy="5780704"/>
            <a:chOff x="0" y="0"/>
            <a:chExt cx="2280193" cy="1522490"/>
          </a:xfrm>
        </p:grpSpPr>
        <p:sp>
          <p:nvSpPr>
            <p:cNvPr name="Freeform 7" id="7"/>
            <p:cNvSpPr/>
            <p:nvPr/>
          </p:nvSpPr>
          <p:spPr>
            <a:xfrm flipH="false" flipV="false" rot="0">
              <a:off x="0" y="0"/>
              <a:ext cx="2280193" cy="1522490"/>
            </a:xfrm>
            <a:custGeom>
              <a:avLst/>
              <a:gdLst/>
              <a:ahLst/>
              <a:cxnLst/>
              <a:rect r="r" b="b" t="t" l="l"/>
              <a:pathLst>
                <a:path h="1522490" w="2280193">
                  <a:moveTo>
                    <a:pt x="45606" y="0"/>
                  </a:moveTo>
                  <a:lnTo>
                    <a:pt x="2234587" y="0"/>
                  </a:lnTo>
                  <a:cubicBezTo>
                    <a:pt x="2246682" y="0"/>
                    <a:pt x="2258282" y="4805"/>
                    <a:pt x="2266835" y="13358"/>
                  </a:cubicBezTo>
                  <a:cubicBezTo>
                    <a:pt x="2275388" y="21910"/>
                    <a:pt x="2280193" y="33510"/>
                    <a:pt x="2280193" y="45606"/>
                  </a:cubicBezTo>
                  <a:lnTo>
                    <a:pt x="2280193" y="1476884"/>
                  </a:lnTo>
                  <a:cubicBezTo>
                    <a:pt x="2280193" y="1488979"/>
                    <a:pt x="2275388" y="1500580"/>
                    <a:pt x="2266835" y="1509132"/>
                  </a:cubicBezTo>
                  <a:cubicBezTo>
                    <a:pt x="2258282" y="1517685"/>
                    <a:pt x="2246682" y="1522490"/>
                    <a:pt x="2234587" y="1522490"/>
                  </a:cubicBezTo>
                  <a:lnTo>
                    <a:pt x="45606" y="1522490"/>
                  </a:lnTo>
                  <a:cubicBezTo>
                    <a:pt x="20418" y="1522490"/>
                    <a:pt x="0" y="1502071"/>
                    <a:pt x="0" y="1476884"/>
                  </a:cubicBezTo>
                  <a:lnTo>
                    <a:pt x="0" y="45606"/>
                  </a:lnTo>
                  <a:cubicBezTo>
                    <a:pt x="0" y="20418"/>
                    <a:pt x="20418" y="0"/>
                    <a:pt x="45606" y="0"/>
                  </a:cubicBezTo>
                  <a:close/>
                </a:path>
              </a:pathLst>
            </a:custGeom>
            <a:solidFill>
              <a:srgbClr val="FFFFFF"/>
            </a:solidFill>
          </p:spPr>
        </p:sp>
        <p:sp>
          <p:nvSpPr>
            <p:cNvPr name="TextBox 8" id="8"/>
            <p:cNvSpPr txBox="true"/>
            <p:nvPr/>
          </p:nvSpPr>
          <p:spPr>
            <a:xfrm>
              <a:off x="0" y="-123825"/>
              <a:ext cx="2280193" cy="1646315"/>
            </a:xfrm>
            <a:prstGeom prst="rect">
              <a:avLst/>
            </a:prstGeom>
          </p:spPr>
          <p:txBody>
            <a:bodyPr anchor="ctr" rtlCol="false" tIns="50800" lIns="50800" bIns="50800" rIns="50800"/>
            <a:lstStyle/>
            <a:p>
              <a:pPr algn="ctr">
                <a:lnSpc>
                  <a:spcPts val="4079"/>
                </a:lnSpc>
              </a:pPr>
            </a:p>
          </p:txBody>
        </p:sp>
      </p:grpSp>
      <p:sp>
        <p:nvSpPr>
          <p:cNvPr name="Freeform 9" id="9"/>
          <p:cNvSpPr/>
          <p:nvPr/>
        </p:nvSpPr>
        <p:spPr>
          <a:xfrm flipH="false" flipV="false" rot="0">
            <a:off x="9890270" y="3660932"/>
            <a:ext cx="7652807" cy="4165259"/>
          </a:xfrm>
          <a:custGeom>
            <a:avLst/>
            <a:gdLst/>
            <a:ahLst/>
            <a:cxnLst/>
            <a:rect r="r" b="b" t="t" l="l"/>
            <a:pathLst>
              <a:path h="4165259" w="7652807">
                <a:moveTo>
                  <a:pt x="0" y="0"/>
                </a:moveTo>
                <a:lnTo>
                  <a:pt x="7652806" y="0"/>
                </a:lnTo>
                <a:lnTo>
                  <a:pt x="7652806" y="4165259"/>
                </a:lnTo>
                <a:lnTo>
                  <a:pt x="0" y="4165259"/>
                </a:lnTo>
                <a:lnTo>
                  <a:pt x="0" y="0"/>
                </a:lnTo>
                <a:close/>
              </a:path>
            </a:pathLst>
          </a:custGeom>
          <a:blipFill>
            <a:blip r:embed="rId3"/>
            <a:stretch>
              <a:fillRect l="-59" t="0" r="-59" b="0"/>
            </a:stretch>
          </a:blipFill>
        </p:spPr>
      </p:sp>
      <p:sp>
        <p:nvSpPr>
          <p:cNvPr name="TextBox 10" id="10"/>
          <p:cNvSpPr txBox="true"/>
          <p:nvPr/>
        </p:nvSpPr>
        <p:spPr>
          <a:xfrm rot="0">
            <a:off x="1028700" y="599709"/>
            <a:ext cx="1032659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Results and Visualizations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BE5EA"/>
        </a:solidFill>
      </p:bgPr>
    </p:bg>
    <p:spTree>
      <p:nvGrpSpPr>
        <p:cNvPr id="1" name=""/>
        <p:cNvGrpSpPr/>
        <p:nvPr/>
      </p:nvGrpSpPr>
      <p:grpSpPr>
        <a:xfrm>
          <a:off x="0" y="0"/>
          <a:ext cx="0" cy="0"/>
          <a:chOff x="0" y="0"/>
          <a:chExt cx="0" cy="0"/>
        </a:xfrm>
      </p:grpSpPr>
      <p:grpSp>
        <p:nvGrpSpPr>
          <p:cNvPr name="Group 2" id="2"/>
          <p:cNvGrpSpPr/>
          <p:nvPr/>
        </p:nvGrpSpPr>
        <p:grpSpPr>
          <a:xfrm rot="0">
            <a:off x="456014" y="2945930"/>
            <a:ext cx="8657607" cy="5780704"/>
            <a:chOff x="0" y="0"/>
            <a:chExt cx="2280193" cy="1522490"/>
          </a:xfrm>
        </p:grpSpPr>
        <p:sp>
          <p:nvSpPr>
            <p:cNvPr name="Freeform 3" id="3"/>
            <p:cNvSpPr/>
            <p:nvPr/>
          </p:nvSpPr>
          <p:spPr>
            <a:xfrm flipH="false" flipV="false" rot="0">
              <a:off x="0" y="0"/>
              <a:ext cx="2280193" cy="1522490"/>
            </a:xfrm>
            <a:custGeom>
              <a:avLst/>
              <a:gdLst/>
              <a:ahLst/>
              <a:cxnLst/>
              <a:rect r="r" b="b" t="t" l="l"/>
              <a:pathLst>
                <a:path h="1522490" w="2280193">
                  <a:moveTo>
                    <a:pt x="45606" y="0"/>
                  </a:moveTo>
                  <a:lnTo>
                    <a:pt x="2234587" y="0"/>
                  </a:lnTo>
                  <a:cubicBezTo>
                    <a:pt x="2246682" y="0"/>
                    <a:pt x="2258282" y="4805"/>
                    <a:pt x="2266835" y="13358"/>
                  </a:cubicBezTo>
                  <a:cubicBezTo>
                    <a:pt x="2275388" y="21910"/>
                    <a:pt x="2280193" y="33510"/>
                    <a:pt x="2280193" y="45606"/>
                  </a:cubicBezTo>
                  <a:lnTo>
                    <a:pt x="2280193" y="1476884"/>
                  </a:lnTo>
                  <a:cubicBezTo>
                    <a:pt x="2280193" y="1488979"/>
                    <a:pt x="2275388" y="1500580"/>
                    <a:pt x="2266835" y="1509132"/>
                  </a:cubicBezTo>
                  <a:cubicBezTo>
                    <a:pt x="2258282" y="1517685"/>
                    <a:pt x="2246682" y="1522490"/>
                    <a:pt x="2234587" y="1522490"/>
                  </a:cubicBezTo>
                  <a:lnTo>
                    <a:pt x="45606" y="1522490"/>
                  </a:lnTo>
                  <a:cubicBezTo>
                    <a:pt x="20418" y="1522490"/>
                    <a:pt x="0" y="1502071"/>
                    <a:pt x="0" y="1476884"/>
                  </a:cubicBezTo>
                  <a:lnTo>
                    <a:pt x="0" y="45606"/>
                  </a:lnTo>
                  <a:cubicBezTo>
                    <a:pt x="0" y="20418"/>
                    <a:pt x="20418" y="0"/>
                    <a:pt x="45606" y="0"/>
                  </a:cubicBezTo>
                  <a:close/>
                </a:path>
              </a:pathLst>
            </a:custGeom>
            <a:solidFill>
              <a:srgbClr val="FFFFFF"/>
            </a:solidFill>
          </p:spPr>
        </p:sp>
        <p:sp>
          <p:nvSpPr>
            <p:cNvPr name="TextBox 4" id="4"/>
            <p:cNvSpPr txBox="true"/>
            <p:nvPr/>
          </p:nvSpPr>
          <p:spPr>
            <a:xfrm>
              <a:off x="0" y="-123825"/>
              <a:ext cx="2280193" cy="1646315"/>
            </a:xfrm>
            <a:prstGeom prst="rect">
              <a:avLst/>
            </a:prstGeom>
          </p:spPr>
          <p:txBody>
            <a:bodyPr anchor="ctr" rtlCol="false" tIns="50800" lIns="50800" bIns="50800" rIns="50800"/>
            <a:lstStyle/>
            <a:p>
              <a:pPr algn="ctr">
                <a:lnSpc>
                  <a:spcPts val="4079"/>
                </a:lnSpc>
              </a:pPr>
            </a:p>
          </p:txBody>
        </p:sp>
      </p:grpSp>
      <p:grpSp>
        <p:nvGrpSpPr>
          <p:cNvPr name="Group 5" id="5"/>
          <p:cNvGrpSpPr/>
          <p:nvPr/>
        </p:nvGrpSpPr>
        <p:grpSpPr>
          <a:xfrm rot="0">
            <a:off x="9387869" y="2945930"/>
            <a:ext cx="8657607" cy="5780704"/>
            <a:chOff x="0" y="0"/>
            <a:chExt cx="2280193" cy="1522490"/>
          </a:xfrm>
        </p:grpSpPr>
        <p:sp>
          <p:nvSpPr>
            <p:cNvPr name="Freeform 6" id="6"/>
            <p:cNvSpPr/>
            <p:nvPr/>
          </p:nvSpPr>
          <p:spPr>
            <a:xfrm flipH="false" flipV="false" rot="0">
              <a:off x="0" y="0"/>
              <a:ext cx="2280193" cy="1522490"/>
            </a:xfrm>
            <a:custGeom>
              <a:avLst/>
              <a:gdLst/>
              <a:ahLst/>
              <a:cxnLst/>
              <a:rect r="r" b="b" t="t" l="l"/>
              <a:pathLst>
                <a:path h="1522490" w="2280193">
                  <a:moveTo>
                    <a:pt x="45606" y="0"/>
                  </a:moveTo>
                  <a:lnTo>
                    <a:pt x="2234587" y="0"/>
                  </a:lnTo>
                  <a:cubicBezTo>
                    <a:pt x="2246682" y="0"/>
                    <a:pt x="2258282" y="4805"/>
                    <a:pt x="2266835" y="13358"/>
                  </a:cubicBezTo>
                  <a:cubicBezTo>
                    <a:pt x="2275388" y="21910"/>
                    <a:pt x="2280193" y="33510"/>
                    <a:pt x="2280193" y="45606"/>
                  </a:cubicBezTo>
                  <a:lnTo>
                    <a:pt x="2280193" y="1476884"/>
                  </a:lnTo>
                  <a:cubicBezTo>
                    <a:pt x="2280193" y="1488979"/>
                    <a:pt x="2275388" y="1500580"/>
                    <a:pt x="2266835" y="1509132"/>
                  </a:cubicBezTo>
                  <a:cubicBezTo>
                    <a:pt x="2258282" y="1517685"/>
                    <a:pt x="2246682" y="1522490"/>
                    <a:pt x="2234587" y="1522490"/>
                  </a:cubicBezTo>
                  <a:lnTo>
                    <a:pt x="45606" y="1522490"/>
                  </a:lnTo>
                  <a:cubicBezTo>
                    <a:pt x="20418" y="1522490"/>
                    <a:pt x="0" y="1502071"/>
                    <a:pt x="0" y="1476884"/>
                  </a:cubicBezTo>
                  <a:lnTo>
                    <a:pt x="0" y="45606"/>
                  </a:lnTo>
                  <a:cubicBezTo>
                    <a:pt x="0" y="20418"/>
                    <a:pt x="20418" y="0"/>
                    <a:pt x="45606" y="0"/>
                  </a:cubicBezTo>
                  <a:close/>
                </a:path>
              </a:pathLst>
            </a:custGeom>
            <a:solidFill>
              <a:srgbClr val="FFFFFF"/>
            </a:solidFill>
          </p:spPr>
        </p:sp>
        <p:sp>
          <p:nvSpPr>
            <p:cNvPr name="TextBox 7" id="7"/>
            <p:cNvSpPr txBox="true"/>
            <p:nvPr/>
          </p:nvSpPr>
          <p:spPr>
            <a:xfrm>
              <a:off x="0" y="-123825"/>
              <a:ext cx="2280193" cy="1646315"/>
            </a:xfrm>
            <a:prstGeom prst="rect">
              <a:avLst/>
            </a:prstGeom>
          </p:spPr>
          <p:txBody>
            <a:bodyPr anchor="ctr" rtlCol="false" tIns="50800" lIns="50800" bIns="50800" rIns="50800"/>
            <a:lstStyle/>
            <a:p>
              <a:pPr algn="ctr">
                <a:lnSpc>
                  <a:spcPts val="4079"/>
                </a:lnSpc>
              </a:pPr>
            </a:p>
          </p:txBody>
        </p:sp>
      </p:grpSp>
      <p:sp>
        <p:nvSpPr>
          <p:cNvPr name="Freeform 8" id="8"/>
          <p:cNvSpPr/>
          <p:nvPr/>
        </p:nvSpPr>
        <p:spPr>
          <a:xfrm flipH="false" flipV="false" rot="0">
            <a:off x="821582" y="3586457"/>
            <a:ext cx="7926472" cy="4314209"/>
          </a:xfrm>
          <a:custGeom>
            <a:avLst/>
            <a:gdLst/>
            <a:ahLst/>
            <a:cxnLst/>
            <a:rect r="r" b="b" t="t" l="l"/>
            <a:pathLst>
              <a:path h="4314209" w="7926472">
                <a:moveTo>
                  <a:pt x="0" y="0"/>
                </a:moveTo>
                <a:lnTo>
                  <a:pt x="7926472" y="0"/>
                </a:lnTo>
                <a:lnTo>
                  <a:pt x="7926472" y="4314209"/>
                </a:lnTo>
                <a:lnTo>
                  <a:pt x="0" y="4314209"/>
                </a:lnTo>
                <a:lnTo>
                  <a:pt x="0" y="0"/>
                </a:lnTo>
                <a:close/>
              </a:path>
            </a:pathLst>
          </a:custGeom>
          <a:blipFill>
            <a:blip r:embed="rId2"/>
            <a:stretch>
              <a:fillRect l="-59" t="0" r="-59" b="0"/>
            </a:stretch>
          </a:blipFill>
        </p:spPr>
      </p:sp>
      <p:sp>
        <p:nvSpPr>
          <p:cNvPr name="Freeform 9" id="9"/>
          <p:cNvSpPr/>
          <p:nvPr/>
        </p:nvSpPr>
        <p:spPr>
          <a:xfrm flipH="false" flipV="false" rot="0">
            <a:off x="9818999" y="3714861"/>
            <a:ext cx="7795347" cy="4242840"/>
          </a:xfrm>
          <a:custGeom>
            <a:avLst/>
            <a:gdLst/>
            <a:ahLst/>
            <a:cxnLst/>
            <a:rect r="r" b="b" t="t" l="l"/>
            <a:pathLst>
              <a:path h="4242840" w="7795347">
                <a:moveTo>
                  <a:pt x="0" y="0"/>
                </a:moveTo>
                <a:lnTo>
                  <a:pt x="7795347" y="0"/>
                </a:lnTo>
                <a:lnTo>
                  <a:pt x="7795347" y="4242841"/>
                </a:lnTo>
                <a:lnTo>
                  <a:pt x="0" y="4242841"/>
                </a:lnTo>
                <a:lnTo>
                  <a:pt x="0" y="0"/>
                </a:lnTo>
                <a:close/>
              </a:path>
            </a:pathLst>
          </a:custGeom>
          <a:blipFill>
            <a:blip r:embed="rId3"/>
            <a:stretch>
              <a:fillRect l="-59" t="0" r="-59" b="0"/>
            </a:stretch>
          </a:blipFill>
        </p:spPr>
      </p:sp>
      <p:sp>
        <p:nvSpPr>
          <p:cNvPr name="TextBox 10" id="10"/>
          <p:cNvSpPr txBox="true"/>
          <p:nvPr/>
        </p:nvSpPr>
        <p:spPr>
          <a:xfrm rot="0">
            <a:off x="1028700" y="599709"/>
            <a:ext cx="1032659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Results and Visualizations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4093893" y="15849"/>
            <a:ext cx="4194107" cy="10271151"/>
            <a:chOff x="0" y="0"/>
            <a:chExt cx="1104621" cy="2705159"/>
          </a:xfrm>
        </p:grpSpPr>
        <p:sp>
          <p:nvSpPr>
            <p:cNvPr name="Freeform 3" id="3"/>
            <p:cNvSpPr/>
            <p:nvPr/>
          </p:nvSpPr>
          <p:spPr>
            <a:xfrm flipH="false" flipV="false" rot="0">
              <a:off x="0" y="0"/>
              <a:ext cx="1104621" cy="2705159"/>
            </a:xfrm>
            <a:custGeom>
              <a:avLst/>
              <a:gdLst/>
              <a:ahLst/>
              <a:cxnLst/>
              <a:rect r="r" b="b" t="t" l="l"/>
              <a:pathLst>
                <a:path h="2705159" w="1104621">
                  <a:moveTo>
                    <a:pt x="0" y="0"/>
                  </a:moveTo>
                  <a:lnTo>
                    <a:pt x="1104621" y="0"/>
                  </a:lnTo>
                  <a:lnTo>
                    <a:pt x="1104621" y="2705159"/>
                  </a:lnTo>
                  <a:lnTo>
                    <a:pt x="0" y="2705159"/>
                  </a:lnTo>
                  <a:close/>
                </a:path>
              </a:pathLst>
            </a:custGeom>
            <a:solidFill>
              <a:srgbClr val="7994A0"/>
            </a:solidFill>
          </p:spPr>
        </p:sp>
        <p:sp>
          <p:nvSpPr>
            <p:cNvPr name="TextBox 4" id="4"/>
            <p:cNvSpPr txBox="true"/>
            <p:nvPr/>
          </p:nvSpPr>
          <p:spPr>
            <a:xfrm>
              <a:off x="0" y="-47625"/>
              <a:ext cx="1104621" cy="2752784"/>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1028700" y="8974931"/>
            <a:ext cx="1905000" cy="283369"/>
          </a:xfrm>
          <a:custGeom>
            <a:avLst/>
            <a:gdLst/>
            <a:ahLst/>
            <a:cxnLst/>
            <a:rect r="r" b="b" t="t" l="l"/>
            <a:pathLst>
              <a:path h="283369" w="1905000">
                <a:moveTo>
                  <a:pt x="0" y="0"/>
                </a:moveTo>
                <a:lnTo>
                  <a:pt x="1905000" y="0"/>
                </a:lnTo>
                <a:lnTo>
                  <a:pt x="1905000" y="283369"/>
                </a:lnTo>
                <a:lnTo>
                  <a:pt x="0" y="2833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0418943" y="1767440"/>
            <a:ext cx="7261235" cy="6588554"/>
            <a:chOff x="0" y="0"/>
            <a:chExt cx="1912424" cy="1735257"/>
          </a:xfrm>
        </p:grpSpPr>
        <p:sp>
          <p:nvSpPr>
            <p:cNvPr name="Freeform 7" id="7"/>
            <p:cNvSpPr/>
            <p:nvPr/>
          </p:nvSpPr>
          <p:spPr>
            <a:xfrm flipH="false" flipV="false" rot="0">
              <a:off x="0" y="0"/>
              <a:ext cx="1912424" cy="1735257"/>
            </a:xfrm>
            <a:custGeom>
              <a:avLst/>
              <a:gdLst/>
              <a:ahLst/>
              <a:cxnLst/>
              <a:rect r="r" b="b" t="t" l="l"/>
              <a:pathLst>
                <a:path h="1735257" w="1912424">
                  <a:moveTo>
                    <a:pt x="54376" y="0"/>
                  </a:moveTo>
                  <a:lnTo>
                    <a:pt x="1858048" y="0"/>
                  </a:lnTo>
                  <a:cubicBezTo>
                    <a:pt x="1872469" y="0"/>
                    <a:pt x="1886300" y="5729"/>
                    <a:pt x="1896498" y="15926"/>
                  </a:cubicBezTo>
                  <a:cubicBezTo>
                    <a:pt x="1906695" y="26124"/>
                    <a:pt x="1912424" y="39955"/>
                    <a:pt x="1912424" y="54376"/>
                  </a:cubicBezTo>
                  <a:lnTo>
                    <a:pt x="1912424" y="1680881"/>
                  </a:lnTo>
                  <a:cubicBezTo>
                    <a:pt x="1912424" y="1710912"/>
                    <a:pt x="1888079" y="1735257"/>
                    <a:pt x="1858048" y="1735257"/>
                  </a:cubicBezTo>
                  <a:lnTo>
                    <a:pt x="54376" y="1735257"/>
                  </a:lnTo>
                  <a:cubicBezTo>
                    <a:pt x="39955" y="1735257"/>
                    <a:pt x="26124" y="1729528"/>
                    <a:pt x="15926" y="1719331"/>
                  </a:cubicBezTo>
                  <a:cubicBezTo>
                    <a:pt x="5729" y="1709133"/>
                    <a:pt x="0" y="1695302"/>
                    <a:pt x="0" y="1680881"/>
                  </a:cubicBezTo>
                  <a:lnTo>
                    <a:pt x="0" y="54376"/>
                  </a:lnTo>
                  <a:cubicBezTo>
                    <a:pt x="0" y="24345"/>
                    <a:pt x="24345" y="0"/>
                    <a:pt x="54376" y="0"/>
                  </a:cubicBezTo>
                  <a:close/>
                </a:path>
              </a:pathLst>
            </a:custGeom>
            <a:solidFill>
              <a:srgbClr val="DBE5EA"/>
            </a:solidFill>
          </p:spPr>
        </p:sp>
        <p:sp>
          <p:nvSpPr>
            <p:cNvPr name="TextBox 8" id="8"/>
            <p:cNvSpPr txBox="true"/>
            <p:nvPr/>
          </p:nvSpPr>
          <p:spPr>
            <a:xfrm>
              <a:off x="0" y="-123825"/>
              <a:ext cx="1912424" cy="1859082"/>
            </a:xfrm>
            <a:prstGeom prst="rect">
              <a:avLst/>
            </a:prstGeom>
          </p:spPr>
          <p:txBody>
            <a:bodyPr anchor="ctr" rtlCol="false" tIns="50800" lIns="50800" bIns="50800" rIns="50800"/>
            <a:lstStyle/>
            <a:p>
              <a:pPr algn="ctr">
                <a:lnSpc>
                  <a:spcPts val="4079"/>
                </a:lnSpc>
              </a:pPr>
            </a:p>
          </p:txBody>
        </p:sp>
      </p:grpSp>
      <p:pic>
        <p:nvPicPr>
          <p:cNvPr name="Picture 9" id="9"/>
          <p:cNvPicPr>
            <a:picLocks noChangeAspect="true"/>
          </p:cNvPicPr>
          <p:nvPr/>
        </p:nvPicPr>
        <p:blipFill>
          <a:blip r:embed="rId5"/>
          <a:stretch>
            <a:fillRect/>
          </a:stretch>
        </p:blipFill>
        <p:spPr>
          <a:xfrm rot="0">
            <a:off x="11305882" y="2031376"/>
            <a:ext cx="6018348" cy="5943185"/>
          </a:xfrm>
          <a:prstGeom prst="rect">
            <a:avLst/>
          </a:prstGeom>
        </p:spPr>
      </p:pic>
      <p:sp>
        <p:nvSpPr>
          <p:cNvPr name="TextBox 10" id="10"/>
          <p:cNvSpPr txBox="true"/>
          <p:nvPr/>
        </p:nvSpPr>
        <p:spPr>
          <a:xfrm rot="0">
            <a:off x="1028700" y="599709"/>
            <a:ext cx="93902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Portfolio Prediction System</a:t>
            </a:r>
          </a:p>
        </p:txBody>
      </p:sp>
      <p:sp>
        <p:nvSpPr>
          <p:cNvPr name="TextBox 11" id="11"/>
          <p:cNvSpPr txBox="true"/>
          <p:nvPr/>
        </p:nvSpPr>
        <p:spPr>
          <a:xfrm rot="0">
            <a:off x="1028700" y="3386084"/>
            <a:ext cx="6938067" cy="30575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StockPredictionModel: Builds, trains, and evaluates LSTM models.</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Stock: Interfaces with stock data and prepares features.</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PortfolioPredictor: Manages multiple stocks, predicts, and calculates profit/loss.</a:t>
            </a:r>
          </a:p>
        </p:txBody>
      </p:sp>
      <p:sp>
        <p:nvSpPr>
          <p:cNvPr name="TextBox 12" id="12"/>
          <p:cNvSpPr txBox="true"/>
          <p:nvPr/>
        </p:nvSpPr>
        <p:spPr>
          <a:xfrm rot="0">
            <a:off x="1028700" y="2823184"/>
            <a:ext cx="693806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Custom Classes:</a:t>
            </a:r>
          </a:p>
        </p:txBody>
      </p:sp>
      <p:sp>
        <p:nvSpPr>
          <p:cNvPr name="TextBox 13" id="13"/>
          <p:cNvSpPr txBox="true"/>
          <p:nvPr/>
        </p:nvSpPr>
        <p:spPr>
          <a:xfrm rot="0">
            <a:off x="1028700" y="6576959"/>
            <a:ext cx="693806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Features:</a:t>
            </a:r>
          </a:p>
        </p:txBody>
      </p:sp>
      <p:sp>
        <p:nvSpPr>
          <p:cNvPr name="TextBox 14" id="14"/>
          <p:cNvSpPr txBox="true"/>
          <p:nvPr/>
        </p:nvSpPr>
        <p:spPr>
          <a:xfrm rot="0">
            <a:off x="1257047" y="7144014"/>
            <a:ext cx="6938067" cy="10001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Predict next-day prices.</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Calculate profit/loss for the portfolio.</a:t>
            </a:r>
          </a:p>
        </p:txBody>
      </p:sp>
      <p:sp>
        <p:nvSpPr>
          <p:cNvPr name="TextBox 15" id="15"/>
          <p:cNvSpPr txBox="true"/>
          <p:nvPr/>
        </p:nvSpPr>
        <p:spPr>
          <a:xfrm rot="0">
            <a:off x="12013874" y="7437111"/>
            <a:ext cx="4177073" cy="485775"/>
          </a:xfrm>
          <a:prstGeom prst="rect">
            <a:avLst/>
          </a:prstGeom>
        </p:spPr>
        <p:txBody>
          <a:bodyPr anchor="t" rtlCol="false" tIns="0" lIns="0" bIns="0" rIns="0">
            <a:spAutoFit/>
          </a:bodyPr>
          <a:lstStyle/>
          <a:p>
            <a:pPr algn="ctr">
              <a:lnSpc>
                <a:spcPts val="4079"/>
              </a:lnSpc>
            </a:pPr>
            <a:r>
              <a:rPr lang="en-US" sz="2400">
                <a:solidFill>
                  <a:srgbClr val="0F4662"/>
                </a:solidFill>
                <a:latin typeface="Quicksand"/>
                <a:ea typeface="Quicksand"/>
                <a:cs typeface="Quicksand"/>
                <a:sym typeface="Quicksand"/>
              </a:rPr>
              <a:t>Portfolio Weightages</a:t>
            </a:r>
          </a:p>
        </p:txBody>
      </p:sp>
      <p:sp>
        <p:nvSpPr>
          <p:cNvPr name="TextBox 16" id="16"/>
          <p:cNvSpPr txBox="true"/>
          <p:nvPr/>
        </p:nvSpPr>
        <p:spPr>
          <a:xfrm rot="0">
            <a:off x="11208703" y="7925065"/>
            <a:ext cx="5494697" cy="352424"/>
          </a:xfrm>
          <a:prstGeom prst="rect">
            <a:avLst/>
          </a:prstGeom>
        </p:spPr>
        <p:txBody>
          <a:bodyPr anchor="t" rtlCol="false" tIns="0" lIns="0" bIns="0" rIns="0">
            <a:spAutoFit/>
          </a:bodyPr>
          <a:lstStyle/>
          <a:p>
            <a:pPr algn="ctr">
              <a:lnSpc>
                <a:spcPts val="3060"/>
              </a:lnSpc>
            </a:pPr>
            <a:r>
              <a:rPr lang="en-US" b="true" sz="1800">
                <a:solidFill>
                  <a:srgbClr val="0F4662"/>
                </a:solidFill>
                <a:latin typeface="Quicksand Bold"/>
                <a:ea typeface="Quicksand Bold"/>
                <a:cs typeface="Quicksand Bold"/>
                <a:sym typeface="Quicksand Bold"/>
              </a:rPr>
              <a:t>AAPL: 50%, TSLA: 30%, GOOGL: 20%</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4093893" y="15849"/>
            <a:ext cx="4194107" cy="10271151"/>
            <a:chOff x="0" y="0"/>
            <a:chExt cx="1104621" cy="2705159"/>
          </a:xfrm>
        </p:grpSpPr>
        <p:sp>
          <p:nvSpPr>
            <p:cNvPr name="Freeform 3" id="3"/>
            <p:cNvSpPr/>
            <p:nvPr/>
          </p:nvSpPr>
          <p:spPr>
            <a:xfrm flipH="false" flipV="false" rot="0">
              <a:off x="0" y="0"/>
              <a:ext cx="1104621" cy="2705159"/>
            </a:xfrm>
            <a:custGeom>
              <a:avLst/>
              <a:gdLst/>
              <a:ahLst/>
              <a:cxnLst/>
              <a:rect r="r" b="b" t="t" l="l"/>
              <a:pathLst>
                <a:path h="2705159" w="1104621">
                  <a:moveTo>
                    <a:pt x="0" y="0"/>
                  </a:moveTo>
                  <a:lnTo>
                    <a:pt x="1104621" y="0"/>
                  </a:lnTo>
                  <a:lnTo>
                    <a:pt x="1104621" y="2705159"/>
                  </a:lnTo>
                  <a:lnTo>
                    <a:pt x="0" y="2705159"/>
                  </a:lnTo>
                  <a:close/>
                </a:path>
              </a:pathLst>
            </a:custGeom>
            <a:solidFill>
              <a:srgbClr val="7994A0"/>
            </a:solidFill>
          </p:spPr>
        </p:sp>
        <p:sp>
          <p:nvSpPr>
            <p:cNvPr name="TextBox 4" id="4"/>
            <p:cNvSpPr txBox="true"/>
            <p:nvPr/>
          </p:nvSpPr>
          <p:spPr>
            <a:xfrm>
              <a:off x="0" y="-47625"/>
              <a:ext cx="1104621" cy="2752784"/>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1028700" y="8974931"/>
            <a:ext cx="1905000" cy="283369"/>
          </a:xfrm>
          <a:custGeom>
            <a:avLst/>
            <a:gdLst/>
            <a:ahLst/>
            <a:cxnLst/>
            <a:rect r="r" b="b" t="t" l="l"/>
            <a:pathLst>
              <a:path h="283369" w="1905000">
                <a:moveTo>
                  <a:pt x="0" y="0"/>
                </a:moveTo>
                <a:lnTo>
                  <a:pt x="1905000" y="0"/>
                </a:lnTo>
                <a:lnTo>
                  <a:pt x="1905000" y="283369"/>
                </a:lnTo>
                <a:lnTo>
                  <a:pt x="0" y="2833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028700" y="599709"/>
            <a:ext cx="93902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Future Enhancements</a:t>
            </a:r>
          </a:p>
        </p:txBody>
      </p:sp>
      <p:sp>
        <p:nvSpPr>
          <p:cNvPr name="TextBox 7" id="7"/>
          <p:cNvSpPr txBox="true"/>
          <p:nvPr/>
        </p:nvSpPr>
        <p:spPr>
          <a:xfrm rot="0">
            <a:off x="1028700" y="3386084"/>
            <a:ext cx="9058402" cy="10001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Explore Transformer models and hybrid approaches.</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Enhance adaptability for extreme market fluctuations.</a:t>
            </a:r>
          </a:p>
        </p:txBody>
      </p:sp>
      <p:sp>
        <p:nvSpPr>
          <p:cNvPr name="TextBox 8" id="8"/>
          <p:cNvSpPr txBox="true"/>
          <p:nvPr/>
        </p:nvSpPr>
        <p:spPr>
          <a:xfrm rot="0">
            <a:off x="1028700" y="2823184"/>
            <a:ext cx="693806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Advanced Models:</a:t>
            </a:r>
          </a:p>
        </p:txBody>
      </p:sp>
      <p:sp>
        <p:nvSpPr>
          <p:cNvPr name="TextBox 9" id="9"/>
          <p:cNvSpPr txBox="true"/>
          <p:nvPr/>
        </p:nvSpPr>
        <p:spPr>
          <a:xfrm rot="0">
            <a:off x="1028700" y="5548259"/>
            <a:ext cx="693806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Interactive Dashboard:</a:t>
            </a:r>
          </a:p>
        </p:txBody>
      </p:sp>
      <p:sp>
        <p:nvSpPr>
          <p:cNvPr name="TextBox 10" id="10"/>
          <p:cNvSpPr txBox="true"/>
          <p:nvPr/>
        </p:nvSpPr>
        <p:spPr>
          <a:xfrm rot="0">
            <a:off x="1028700" y="6115314"/>
            <a:ext cx="8115300" cy="15144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Real-time portfolio tracking and decision-making.</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Enable adding/removing stocks based on predictions.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4093893" y="15849"/>
            <a:ext cx="4194107" cy="10271151"/>
            <a:chOff x="0" y="0"/>
            <a:chExt cx="1104621" cy="2705159"/>
          </a:xfrm>
        </p:grpSpPr>
        <p:sp>
          <p:nvSpPr>
            <p:cNvPr name="Freeform 3" id="3"/>
            <p:cNvSpPr/>
            <p:nvPr/>
          </p:nvSpPr>
          <p:spPr>
            <a:xfrm flipH="false" flipV="false" rot="0">
              <a:off x="0" y="0"/>
              <a:ext cx="1104621" cy="2705159"/>
            </a:xfrm>
            <a:custGeom>
              <a:avLst/>
              <a:gdLst/>
              <a:ahLst/>
              <a:cxnLst/>
              <a:rect r="r" b="b" t="t" l="l"/>
              <a:pathLst>
                <a:path h="2705159" w="1104621">
                  <a:moveTo>
                    <a:pt x="0" y="0"/>
                  </a:moveTo>
                  <a:lnTo>
                    <a:pt x="1104621" y="0"/>
                  </a:lnTo>
                  <a:lnTo>
                    <a:pt x="1104621" y="2705159"/>
                  </a:lnTo>
                  <a:lnTo>
                    <a:pt x="0" y="2705159"/>
                  </a:lnTo>
                  <a:close/>
                </a:path>
              </a:pathLst>
            </a:custGeom>
            <a:solidFill>
              <a:srgbClr val="7994A0"/>
            </a:solidFill>
          </p:spPr>
        </p:sp>
        <p:sp>
          <p:nvSpPr>
            <p:cNvPr name="TextBox 4" id="4"/>
            <p:cNvSpPr txBox="true"/>
            <p:nvPr/>
          </p:nvSpPr>
          <p:spPr>
            <a:xfrm>
              <a:off x="0" y="-47625"/>
              <a:ext cx="1104621" cy="2752784"/>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1028700" y="8974931"/>
            <a:ext cx="1905000" cy="283369"/>
          </a:xfrm>
          <a:custGeom>
            <a:avLst/>
            <a:gdLst/>
            <a:ahLst/>
            <a:cxnLst/>
            <a:rect r="r" b="b" t="t" l="l"/>
            <a:pathLst>
              <a:path h="283369" w="1905000">
                <a:moveTo>
                  <a:pt x="0" y="0"/>
                </a:moveTo>
                <a:lnTo>
                  <a:pt x="1905000" y="0"/>
                </a:lnTo>
                <a:lnTo>
                  <a:pt x="1905000" y="283369"/>
                </a:lnTo>
                <a:lnTo>
                  <a:pt x="0" y="2833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028700" y="599709"/>
            <a:ext cx="93902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References</a:t>
            </a:r>
          </a:p>
        </p:txBody>
      </p:sp>
      <p:sp>
        <p:nvSpPr>
          <p:cNvPr name="TextBox 7" id="7"/>
          <p:cNvSpPr txBox="true"/>
          <p:nvPr/>
        </p:nvSpPr>
        <p:spPr>
          <a:xfrm rot="0">
            <a:off x="1028700" y="3396584"/>
            <a:ext cx="12770785" cy="4600575"/>
          </a:xfrm>
          <a:prstGeom prst="rect">
            <a:avLst/>
          </a:prstGeom>
        </p:spPr>
        <p:txBody>
          <a:bodyPr anchor="t" rtlCol="false" tIns="0" lIns="0" bIns="0" rIns="0">
            <a:spAutoFit/>
          </a:bodyPr>
          <a:lstStyle/>
          <a:p>
            <a:pPr algn="l" marL="518160" indent="-259080" lvl="1">
              <a:lnSpc>
                <a:spcPts val="4079"/>
              </a:lnSpc>
              <a:buFont typeface="Arial"/>
              <a:buChar char="•"/>
            </a:pPr>
            <a:r>
              <a:rPr lang="en-US" b="true" sz="2400">
                <a:solidFill>
                  <a:srgbClr val="0F4662"/>
                </a:solidFill>
                <a:latin typeface="Quicksand Bold"/>
                <a:ea typeface="Quicksand Bold"/>
                <a:cs typeface="Quicksand Bold"/>
                <a:sym typeface="Quicksand Bold"/>
              </a:rPr>
              <a:t>GeeksforGeeks.</a:t>
            </a:r>
            <a:r>
              <a:rPr lang="en-US" sz="2400">
                <a:solidFill>
                  <a:srgbClr val="0F4662"/>
                </a:solidFill>
                <a:latin typeface="Quicksand"/>
                <a:ea typeface="Quicksand"/>
                <a:cs typeface="Quicksand"/>
                <a:sym typeface="Quicksand"/>
              </a:rPr>
              <a:t> (n.d.). Introduction to Long Short-Term Memory (LSTM). https://www.geeksforgeeks.org/deep-learning-introduction-to-long-short-term-memory/ </a:t>
            </a:r>
          </a:p>
          <a:p>
            <a:pPr algn="l" marL="518160" indent="-259080" lvl="1">
              <a:lnSpc>
                <a:spcPts val="4079"/>
              </a:lnSpc>
              <a:buFont typeface="Arial"/>
              <a:buChar char="•"/>
            </a:pPr>
            <a:r>
              <a:rPr lang="en-US" b="true" sz="2400">
                <a:solidFill>
                  <a:srgbClr val="0F4662"/>
                </a:solidFill>
                <a:latin typeface="Quicksand Bold"/>
                <a:ea typeface="Quicksand Bold"/>
                <a:cs typeface="Quicksand Bold"/>
                <a:sym typeface="Quicksand Bold"/>
              </a:rPr>
              <a:t>Keras.</a:t>
            </a:r>
            <a:r>
              <a:rPr lang="en-US" sz="2400">
                <a:solidFill>
                  <a:srgbClr val="0F4662"/>
                </a:solidFill>
                <a:latin typeface="Quicksand"/>
                <a:ea typeface="Quicksand"/>
                <a:cs typeface="Quicksand"/>
                <a:sym typeface="Quicksand"/>
              </a:rPr>
              <a:t> (n.d.). Sequential Model. https://keras.io/guides/sequential_model/ </a:t>
            </a:r>
          </a:p>
          <a:p>
            <a:pPr algn="l" marL="518160" indent="-259080" lvl="1">
              <a:lnSpc>
                <a:spcPts val="4079"/>
              </a:lnSpc>
              <a:buFont typeface="Arial"/>
              <a:buChar char="•"/>
            </a:pPr>
            <a:r>
              <a:rPr lang="en-US" b="true" sz="2400">
                <a:solidFill>
                  <a:srgbClr val="0F4662"/>
                </a:solidFill>
                <a:latin typeface="Quicksand Bold"/>
                <a:ea typeface="Quicksand Bold"/>
                <a:cs typeface="Quicksand Bold"/>
                <a:sym typeface="Quicksand Bold"/>
              </a:rPr>
              <a:t>Eurico Paes</a:t>
            </a:r>
            <a:r>
              <a:rPr lang="en-US" sz="2400">
                <a:solidFill>
                  <a:srgbClr val="0F4662"/>
                </a:solidFill>
                <a:latin typeface="Quicksand"/>
                <a:ea typeface="Quicksand"/>
                <a:cs typeface="Quicksand"/>
                <a:sym typeface="Quicksand"/>
              </a:rPr>
              <a:t>. (2020, May 20). Extracting Data from Yahoo Finance with yfinance. Medium. https://medium.com/@euricopaes/extracting-data-from-yahoo-finance-with-yfinance-96798253d8ca </a:t>
            </a:r>
          </a:p>
          <a:p>
            <a:pPr algn="l" marL="518160" indent="-259080" lvl="1">
              <a:lnSpc>
                <a:spcPts val="4079"/>
              </a:lnSpc>
              <a:buFont typeface="Arial"/>
              <a:buChar char="•"/>
            </a:pPr>
            <a:r>
              <a:rPr lang="en-US" b="true" sz="2400">
                <a:solidFill>
                  <a:srgbClr val="0F4662"/>
                </a:solidFill>
                <a:latin typeface="Quicksand Bold"/>
                <a:ea typeface="Quicksand Bold"/>
                <a:cs typeface="Quicksand Bold"/>
                <a:sym typeface="Quicksand Bold"/>
              </a:rPr>
              <a:t>Data Science Tutorials</a:t>
            </a:r>
            <a:r>
              <a:rPr lang="en-US" sz="2400">
                <a:solidFill>
                  <a:srgbClr val="0F4662"/>
                </a:solidFill>
                <a:latin typeface="Quicksand"/>
                <a:ea typeface="Quicksand"/>
                <a:cs typeface="Quicksand"/>
                <a:sym typeface="Quicksand"/>
              </a:rPr>
              <a:t>. (2020, May 7). Stock Price Prediction using Python. YouTube. https://youtu.be/QIUxPv5PJOY?si=PKt44abYBiXmbjg1 </a:t>
            </a:r>
          </a:p>
        </p:txBody>
      </p:sp>
      <p:sp>
        <p:nvSpPr>
          <p:cNvPr name="TextBox 8" id="8"/>
          <p:cNvSpPr txBox="true"/>
          <p:nvPr/>
        </p:nvSpPr>
        <p:spPr>
          <a:xfrm rot="0">
            <a:off x="1028700" y="2324704"/>
            <a:ext cx="693806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Advanced Models: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28700" y="599709"/>
            <a:ext cx="1153482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Conclusion</a:t>
            </a:r>
          </a:p>
        </p:txBody>
      </p:sp>
      <p:sp>
        <p:nvSpPr>
          <p:cNvPr name="TextBox 3" id="3"/>
          <p:cNvSpPr txBox="true"/>
          <p:nvPr/>
        </p:nvSpPr>
        <p:spPr>
          <a:xfrm rot="0">
            <a:off x="3816256" y="3779317"/>
            <a:ext cx="10655487" cy="3057525"/>
          </a:xfrm>
          <a:prstGeom prst="rect">
            <a:avLst/>
          </a:prstGeom>
        </p:spPr>
        <p:txBody>
          <a:bodyPr anchor="t" rtlCol="false" tIns="0" lIns="0" bIns="0" rIns="0">
            <a:spAutoFit/>
          </a:bodyPr>
          <a:lstStyle/>
          <a:p>
            <a:pPr algn="ctr" marL="0" indent="0" lvl="0">
              <a:lnSpc>
                <a:spcPts val="4079"/>
              </a:lnSpc>
            </a:pPr>
            <a:r>
              <a:rPr lang="en-US" sz="2400">
                <a:solidFill>
                  <a:srgbClr val="0F4662"/>
                </a:solidFill>
                <a:latin typeface="Quicksand"/>
                <a:ea typeface="Quicksand"/>
                <a:cs typeface="Quicksand"/>
                <a:sym typeface="Quicksand"/>
              </a:rPr>
              <a:t>The portfolio prediction models' outcomes provided a number of significant new insights into how well various machine learning techniques performed. We assessed several models, such as Random Forest Regressor and Long Short-Term Memory (LSTM) networks, and took volatility into account when making predictions. We also investigated the possible advantages of ensemble approaches </a:t>
            </a:r>
          </a:p>
        </p:txBody>
      </p:sp>
      <p:sp>
        <p:nvSpPr>
          <p:cNvPr name="AutoShape 4" id="4"/>
          <p:cNvSpPr/>
          <p:nvPr/>
        </p:nvSpPr>
        <p:spPr>
          <a:xfrm>
            <a:off x="5897880" y="3568974"/>
            <a:ext cx="6492240" cy="0"/>
          </a:xfrm>
          <a:prstGeom prst="line">
            <a:avLst/>
          </a:prstGeom>
          <a:ln cap="flat" w="76200">
            <a:solidFill>
              <a:srgbClr val="0F4662"/>
            </a:solidFill>
            <a:prstDash val="solid"/>
            <a:headEnd type="none" len="sm" w="sm"/>
            <a:tailEnd type="none" len="sm" w="sm"/>
          </a:ln>
        </p:spPr>
      </p:sp>
      <p:sp>
        <p:nvSpPr>
          <p:cNvPr name="AutoShape 5" id="5"/>
          <p:cNvSpPr/>
          <p:nvPr/>
        </p:nvSpPr>
        <p:spPr>
          <a:xfrm>
            <a:off x="5897880" y="7171009"/>
            <a:ext cx="6492240" cy="0"/>
          </a:xfrm>
          <a:prstGeom prst="line">
            <a:avLst/>
          </a:prstGeom>
          <a:ln cap="flat" w="76200">
            <a:solidFill>
              <a:srgbClr val="0F4662"/>
            </a:solidFill>
            <a:prstDash val="solid"/>
            <a:headEnd type="none" len="sm" w="sm"/>
            <a:tailEnd type="none" len="sm" w="sm"/>
          </a:ln>
        </p:spPr>
      </p:sp>
      <p:sp>
        <p:nvSpPr>
          <p:cNvPr name="Freeform 6" id="6"/>
          <p:cNvSpPr/>
          <p:nvPr/>
        </p:nvSpPr>
        <p:spPr>
          <a:xfrm flipH="false" flipV="false" rot="0">
            <a:off x="8304001" y="2470557"/>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304001" y="8019527"/>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3442710" y="3369664"/>
            <a:ext cx="11402580" cy="3185722"/>
          </a:xfrm>
          <a:prstGeom prst="rect">
            <a:avLst/>
          </a:prstGeom>
        </p:spPr>
        <p:txBody>
          <a:bodyPr anchor="t" rtlCol="false" tIns="0" lIns="0" bIns="0" rIns="0">
            <a:spAutoFit/>
          </a:bodyPr>
          <a:lstStyle/>
          <a:p>
            <a:pPr algn="ctr" marL="0" indent="0" lvl="0">
              <a:lnSpc>
                <a:spcPts val="26009"/>
              </a:lnSpc>
              <a:spcBef>
                <a:spcPct val="0"/>
              </a:spcBef>
            </a:pPr>
            <a:r>
              <a:rPr lang="en-US" b="true" sz="18577" i="true">
                <a:solidFill>
                  <a:srgbClr val="0F4662"/>
                </a:solidFill>
                <a:latin typeface="Cormorant Garamond Bold Italics"/>
                <a:ea typeface="Cormorant Garamond Bold Italics"/>
                <a:cs typeface="Cormorant Garamond Bold Italics"/>
                <a:sym typeface="Cormorant Garamond Bold Italics"/>
              </a:rPr>
              <a:t>Thank you </a:t>
            </a:r>
          </a:p>
        </p:txBody>
      </p:sp>
      <p:sp>
        <p:nvSpPr>
          <p:cNvPr name="AutoShape 3" id="3"/>
          <p:cNvSpPr/>
          <p:nvPr/>
        </p:nvSpPr>
        <p:spPr>
          <a:xfrm>
            <a:off x="5897880" y="2215083"/>
            <a:ext cx="6492240" cy="0"/>
          </a:xfrm>
          <a:prstGeom prst="line">
            <a:avLst/>
          </a:prstGeom>
          <a:ln cap="flat" w="76200">
            <a:solidFill>
              <a:srgbClr val="0F4662"/>
            </a:solidFill>
            <a:prstDash val="solid"/>
            <a:headEnd type="none" len="sm" w="sm"/>
            <a:tailEnd type="none" len="sm" w="sm"/>
          </a:ln>
        </p:spPr>
      </p:sp>
      <p:sp>
        <p:nvSpPr>
          <p:cNvPr name="Freeform 4" id="4"/>
          <p:cNvSpPr/>
          <p:nvPr/>
        </p:nvSpPr>
        <p:spPr>
          <a:xfrm flipH="false" flipV="false" rot="0">
            <a:off x="8304001" y="1116666"/>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5" id="5"/>
          <p:cNvSpPr/>
          <p:nvPr/>
        </p:nvSpPr>
        <p:spPr>
          <a:xfrm>
            <a:off x="5897880" y="8159883"/>
            <a:ext cx="6492240" cy="0"/>
          </a:xfrm>
          <a:prstGeom prst="line">
            <a:avLst/>
          </a:prstGeom>
          <a:ln cap="flat" w="76200">
            <a:solidFill>
              <a:srgbClr val="0F4662"/>
            </a:solidFill>
            <a:prstDash val="solid"/>
            <a:headEnd type="none" len="sm" w="sm"/>
            <a:tailEnd type="none" len="sm" w="sm"/>
          </a:ln>
        </p:spPr>
      </p:sp>
      <p:sp>
        <p:nvSpPr>
          <p:cNvPr name="Freeform 6" id="6"/>
          <p:cNvSpPr/>
          <p:nvPr/>
        </p:nvSpPr>
        <p:spPr>
          <a:xfrm flipH="false" flipV="false" rot="0">
            <a:off x="8304001" y="9008400"/>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DAGYYMAR59g</dc:identifier>
  <dcterms:modified xsi:type="dcterms:W3CDTF">2011-08-01T06:04:30Z</dcterms:modified>
  <cp:revision>1</cp:revision>
  <dc:title>Portfolio Prediction Model</dc:title>
</cp:coreProperties>
</file>